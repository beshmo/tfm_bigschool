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d68c094d684d0e" /><Relationship Type="http://schemas.openxmlformats.org/officeDocument/2006/relationships/extended-properties" Target="/docProps/app.xml" Id="Re25bd9c555c84aaf" /><Relationship Type="http://schemas.openxmlformats.org/officeDocument/2006/relationships/officeDocument" Target="/ppt/presentation.xml" Id="Rf7e96f2d855342f3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e89a583141d94f9c"/>
  </p:sldMasterIdLst>
  <p:notesMasterIdLst>
    <p:notesMasterId xmlns:r="http://schemas.openxmlformats.org/officeDocument/2006/relationships" r:id="R54709d84c5f143a3"/>
  </p:notesMasterIdLst>
  <p:sldIdLst>
    <p:sldId xmlns:r="http://schemas.openxmlformats.org/officeDocument/2006/relationships" id="256" r:id="R84f1266e318a40aa"/>
    <p:sldId xmlns:r="http://schemas.openxmlformats.org/officeDocument/2006/relationships" id="257" r:id="R834a088da0184dac"/>
    <p:sldId xmlns:r="http://schemas.openxmlformats.org/officeDocument/2006/relationships" id="258" r:id="R1c68afd6627546dd"/>
    <p:sldId xmlns:r="http://schemas.openxmlformats.org/officeDocument/2006/relationships" id="259" r:id="R96ee7d90a4d244e0"/>
    <p:sldId xmlns:r="http://schemas.openxmlformats.org/officeDocument/2006/relationships" id="260" r:id="R8ae60f01b6804ad4"/>
    <p:sldId xmlns:r="http://schemas.openxmlformats.org/officeDocument/2006/relationships" id="261" r:id="R1c5531c6024e4c03"/>
    <p:sldId xmlns:r="http://schemas.openxmlformats.org/officeDocument/2006/relationships" id="262" r:id="R32038168c8844cc3"/>
    <p:sldId xmlns:r="http://schemas.openxmlformats.org/officeDocument/2006/relationships" id="263" r:id="R741d4eeaebb24af0"/>
    <p:sldId xmlns:r="http://schemas.openxmlformats.org/officeDocument/2006/relationships" id="264" r:id="Rd414916ffa494375"/>
    <p:sldId xmlns:r="http://schemas.openxmlformats.org/officeDocument/2006/relationships" id="265" r:id="R8098055182ea4045"/>
    <p:sldId xmlns:r="http://schemas.openxmlformats.org/officeDocument/2006/relationships" id="266" r:id="R698d0dd1d3074ed5"/>
  </p:sldIdLst>
  <p:sldSz cx="12192000" cy="6858000"/>
  <p:notesSz cx="6858000" cy="9144000"/>
  <p:embeddedFontLst>
    <p:embeddedFont>
      <p:font typeface="OpenAI Sans"/>
      <p:regular xmlns:r="http://schemas.openxmlformats.org/officeDocument/2006/relationships" r:id="Red883abc460f4764"/>
      <p:bold xmlns:r="http://schemas.openxmlformats.org/officeDocument/2006/relationships" r:id="Rf80aa23a40654b80"/>
      <p:italic xmlns:r="http://schemas.openxmlformats.org/officeDocument/2006/relationships" r:id="Rd098972ae46b41a3"/>
      <p:boldItalic xmlns:r="http://schemas.openxmlformats.org/officeDocument/2006/relationships" r:id="R9474a8ddb91e499c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5b2335de1e4073" /><Relationship Type="http://schemas.openxmlformats.org/officeDocument/2006/relationships/slideMaster" Target="/ppt/slideMasters/slideMaster1.xml" Id="Re89a583141d94f9c" /><Relationship Type="http://schemas.openxmlformats.org/officeDocument/2006/relationships/notesMaster" Target="/ppt/notesMasters/notesMaster1.xml" Id="R54709d84c5f143a3" /><Relationship Type="http://schemas.openxmlformats.org/officeDocument/2006/relationships/presProps" Target="/ppt/presProps.xml" Id="R78de461ad9314eef" /><Relationship Type="http://schemas.openxmlformats.org/officeDocument/2006/relationships/viewProps" Target="/ppt/viewProps.xml" Id="R48c7955dc4e9430c" /><Relationship Type="http://schemas.openxmlformats.org/officeDocument/2006/relationships/tableStyles" Target="/ppt/tableStyles.xml" Id="Red82ae758be84863" /><Relationship Type="http://schemas.openxmlformats.org/officeDocument/2006/relationships/font" Target="/ppt/fonts/font.dat" Id="Red883abc460f4764" /><Relationship Type="http://schemas.openxmlformats.org/officeDocument/2006/relationships/font" Target="/ppt/fonts/font2.dat" Id="Rf80aa23a40654b80" /><Relationship Type="http://schemas.openxmlformats.org/officeDocument/2006/relationships/font" Target="/ppt/fonts/font3.dat" Id="Rd098972ae46b41a3" /><Relationship Type="http://schemas.openxmlformats.org/officeDocument/2006/relationships/font" Target="/ppt/fonts/font4.dat" Id="R9474a8ddb91e499c" /><Relationship Type="http://schemas.openxmlformats.org/officeDocument/2006/relationships/slide" Target="/ppt/slides/slide1.xml" Id="R84f1266e318a40aa" /><Relationship Type="http://schemas.openxmlformats.org/officeDocument/2006/relationships/slide" Target="/ppt/slides/slide2.xml" Id="R834a088da0184dac" /><Relationship Type="http://schemas.openxmlformats.org/officeDocument/2006/relationships/slide" Target="/ppt/slides/slide3.xml" Id="R1c68afd6627546dd" /><Relationship Type="http://schemas.openxmlformats.org/officeDocument/2006/relationships/slide" Target="/ppt/slides/slide4.xml" Id="R96ee7d90a4d244e0" /><Relationship Type="http://schemas.openxmlformats.org/officeDocument/2006/relationships/slide" Target="/ppt/slides/slide5.xml" Id="R8ae60f01b6804ad4" /><Relationship Type="http://schemas.openxmlformats.org/officeDocument/2006/relationships/slide" Target="/ppt/slides/slide6.xml" Id="R1c5531c6024e4c03" /><Relationship Type="http://schemas.openxmlformats.org/officeDocument/2006/relationships/slide" Target="/ppt/slides/slide7.xml" Id="R32038168c8844cc3" /><Relationship Type="http://schemas.openxmlformats.org/officeDocument/2006/relationships/slide" Target="/ppt/slides/slide8.xml" Id="R741d4eeaebb24af0" /><Relationship Type="http://schemas.openxmlformats.org/officeDocument/2006/relationships/slide" Target="/ppt/slides/slide9.xml" Id="Rd414916ffa494375" /><Relationship Type="http://schemas.openxmlformats.org/officeDocument/2006/relationships/slide" Target="/ppt/slides/slide10.xml" Id="R8098055182ea4045" /><Relationship Type="http://schemas.openxmlformats.org/officeDocument/2006/relationships/slide" Target="/ppt/slides/slide11.xml" Id="R698d0dd1d3074e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4af4438f2854fd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686839c24a42d4" /><Relationship Type="http://schemas.openxmlformats.org/officeDocument/2006/relationships/notesMaster" Target="/ppt/notesMasters/notesMaster1.xml" Id="R59adb1739ca04c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72947bc68d54cec" /><Relationship Type="http://schemas.openxmlformats.org/officeDocument/2006/relationships/notesMaster" Target="/ppt/notesMasters/notesMaster1.xml" Id="R7347a3db6dde43c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ff1eb698084cf7" /><Relationship Type="http://schemas.openxmlformats.org/officeDocument/2006/relationships/notesMaster" Target="/ppt/notesMasters/notesMaster1.xml" Id="R25d5665530624ac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0bdb04d1a8b42b8" /><Relationship Type="http://schemas.openxmlformats.org/officeDocument/2006/relationships/notesMaster" Target="/ppt/notesMasters/notesMaster1.xml" Id="R6e8dc9970d0a46c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2927ae1d254e00" /><Relationship Type="http://schemas.openxmlformats.org/officeDocument/2006/relationships/notesMaster" Target="/ppt/notesMasters/notesMaster1.xml" Id="R528b82b3bfcc41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3498b493e040c0" /><Relationship Type="http://schemas.openxmlformats.org/officeDocument/2006/relationships/notesMaster" Target="/ppt/notesMasters/notesMaster1.xml" Id="Re910dc64bc0046f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5f4e101a7d44c3" /><Relationship Type="http://schemas.openxmlformats.org/officeDocument/2006/relationships/notesMaster" Target="/ppt/notesMasters/notesMaster1.xml" Id="R8bb57e0449a74a8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3a6efb3bc344861" /><Relationship Type="http://schemas.openxmlformats.org/officeDocument/2006/relationships/notesMaster" Target="/ppt/notesMasters/notesMaster1.xml" Id="Rf35ffa9b7be148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3e9e8470d2f4648" /><Relationship Type="http://schemas.openxmlformats.org/officeDocument/2006/relationships/notesMaster" Target="/ppt/notesMasters/notesMaster1.xml" Id="R7defb2c2de114ef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272c39499ab4cc1" /><Relationship Type="http://schemas.openxmlformats.org/officeDocument/2006/relationships/notesMaster" Target="/ppt/notesMasters/notesMaster1.xml" Id="Rf414931911274a9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9ae2673671c46a6" /><Relationship Type="http://schemas.openxmlformats.org/officeDocument/2006/relationships/notesMaster" Target="/ppt/notesMasters/notesMaster1.xml" Id="Rcb39b9762db046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4680e58b2b435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fe191ca01e4be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9f42ec331345b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3cbe4c872f4e5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8f2de0d69b4fd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89513e5bec4a2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42f802116f49c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f55b37c0b44df8" /></Relationships>
</file>

<file path=ppt/slideLayouts/slideLayout1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041400"/>
            <a:ext cx="7493000" cy="249149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356100"/>
            <a:ext cx="5537200" cy="16383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/>
        </p:txBody>
      </p:sp>
      <p:sp>
        <p:nvSpPr>
          <p:cNvPr id="10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/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</a:p>
        </p:txBody>
      </p:sp>
      <p:sp>
        <p:nvSpPr>
          <p:cNvPr id="12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/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</a:p>
        </p:txBody>
      </p:sp>
      <p:sp>
        <p:nvSpPr>
          <p:cNvPr id="14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15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213811"/>
            <a:ext cx="2595934" cy="37805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>
              <a:buNone/>
            </a:pPr>
            <a:r>
              <a:t>Click to edit Master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/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8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334966" y="2213811"/>
            <a:ext cx="2595934" cy="3780589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>
              <a:buNone/>
            </a:pPr>
            <a:r>
              <a:t>Click to edit Master</a:t>
            </a:r>
          </a:p>
        </p:txBody>
      </p:sp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264413" y="2213811"/>
            <a:ext cx="2595934" cy="37805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>
              <a:buNone/>
            </a:pPr>
            <a:r>
              <a:t>Click to edit Master</a:t>
            </a:r>
          </a:p>
        </p:txBody>
      </p:sp>
      <p:sp>
        <p:nvSpPr>
          <p:cNvPr id="10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9205679" y="2213811"/>
            <a:ext cx="2595934" cy="3780589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>
              <a:buNone/>
            </a:pPr>
            <a:r>
              <a:t>Click to edit Master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/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/>
        </p:txBody>
      </p:sp>
      <p:sp>
        <p:nvSpPr>
          <p:cNvPr id="8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ee0c85da0a4228" /><Relationship Type="http://schemas.openxmlformats.org/officeDocument/2006/relationships/slideLayout" Target="/ppt/slideLayouts/slideLayout1.xml" Id="Rbf4c1ba18cdf4467" /><Relationship Type="http://schemas.openxmlformats.org/officeDocument/2006/relationships/slideLayout" Target="/ppt/slideLayouts/slideLayout2.xml" Id="R9fcfb6d2d511400f" /><Relationship Type="http://schemas.openxmlformats.org/officeDocument/2006/relationships/slideLayout" Target="/ppt/slideLayouts/slideLayout3.xml" Id="R5f79ba8f880a4b25" /><Relationship Type="http://schemas.openxmlformats.org/officeDocument/2006/relationships/slideLayout" Target="/ppt/slideLayouts/slideLayout4.xml" Id="Rb1af7503f1044687" /><Relationship Type="http://schemas.openxmlformats.org/officeDocument/2006/relationships/slideLayout" Target="/ppt/slideLayouts/slideLayout5.xml" Id="R40c39d029a424a25" /><Relationship Type="http://schemas.openxmlformats.org/officeDocument/2006/relationships/slideLayout" Target="/ppt/slideLayouts/slideLayout6.xml" Id="R4fb181e4da9c4b20" /><Relationship Type="http://schemas.openxmlformats.org/officeDocument/2006/relationships/slideLayout" Target="/ppt/slideLayouts/slideLayout7.xml" Id="R0b91dfd2d66c47c5" /><Relationship Type="http://schemas.openxmlformats.org/officeDocument/2006/relationships/slideLayout" Target="/ppt/slideLayouts/slideLayout8.xml" Id="R0c9bc637b756446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f4c1ba18cdf4467"/>
    <p:sldLayoutId xmlns:r="http://schemas.openxmlformats.org/officeDocument/2006/relationships" id="2147483650" r:id="R9fcfb6d2d511400f"/>
    <p:sldLayoutId xmlns:r="http://schemas.openxmlformats.org/officeDocument/2006/relationships" id="2147483651" r:id="R5f79ba8f880a4b25"/>
    <p:sldLayoutId xmlns:r="http://schemas.openxmlformats.org/officeDocument/2006/relationships" id="2147483652" r:id="Rb1af7503f1044687"/>
    <p:sldLayoutId xmlns:r="http://schemas.openxmlformats.org/officeDocument/2006/relationships" id="2147483653" r:id="R40c39d029a424a25"/>
    <p:sldLayoutId xmlns:r="http://schemas.openxmlformats.org/officeDocument/2006/relationships" id="2147483654" r:id="R4fb181e4da9c4b20"/>
    <p:sldLayoutId xmlns:r="http://schemas.openxmlformats.org/officeDocument/2006/relationships" id="2147483655" r:id="R0b91dfd2d66c47c5"/>
    <p:sldLayoutId xmlns:r="http://schemas.openxmlformats.org/officeDocument/2006/relationships" id="2147483656" r:id="R0c9bc637b756446e"/>
  </p:sldLayoutIdLst>
  <p:hf hd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29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xmlns:a="http://schemas.openxmlformats.org/drawingml/2006/main" val="F26B43"/>
          </p15:clr>
        </p15:guide>
        <p15:guide id="2" pos="7680" userDrawn="1">
          <p15:clr>
            <a:srgbClr xmlns:a="http://schemas.openxmlformats.org/drawingml/2006/main" val="F26B43"/>
          </p15:clr>
        </p15:guide>
        <p15:guide id="3" pos="248" userDrawn="1">
          <p15:clr>
            <a:srgbClr xmlns:a="http://schemas.openxmlformats.org/drawingml/2006/main" val="F26B43"/>
          </p15:clr>
        </p15:guide>
        <p15:guide id="4" pos="1264" userDrawn="1">
          <p15:clr>
            <a:srgbClr xmlns:a="http://schemas.openxmlformats.org/drawingml/2006/main" val="F26B43"/>
          </p15:clr>
        </p15:guide>
        <p15:guide id="5" pos="1480" userDrawn="1">
          <p15:clr>
            <a:srgbClr xmlns:a="http://schemas.openxmlformats.org/drawingml/2006/main" val="F26B43"/>
          </p15:clr>
        </p15:guide>
        <p15:guide id="6" pos="2496" userDrawn="1">
          <p15:clr>
            <a:srgbClr xmlns:a="http://schemas.openxmlformats.org/drawingml/2006/main" val="F26B43"/>
          </p15:clr>
        </p15:guide>
        <p15:guide id="7" pos="2712" userDrawn="1">
          <p15:clr>
            <a:srgbClr xmlns:a="http://schemas.openxmlformats.org/drawingml/2006/main" val="F26B43"/>
          </p15:clr>
        </p15:guide>
        <p15:guide id="8" pos="3736" userDrawn="1">
          <p15:clr>
            <a:srgbClr xmlns:a="http://schemas.openxmlformats.org/drawingml/2006/main" val="F26B43"/>
          </p15:clr>
        </p15:guide>
        <p15:guide id="9" pos="3944" userDrawn="1">
          <p15:clr>
            <a:srgbClr xmlns:a="http://schemas.openxmlformats.org/drawingml/2006/main" val="F26B43"/>
          </p15:clr>
        </p15:guide>
        <p15:guide id="10" pos="4968" userDrawn="1">
          <p15:clr>
            <a:srgbClr xmlns:a="http://schemas.openxmlformats.org/drawingml/2006/main" val="F26B43"/>
          </p15:clr>
        </p15:guide>
        <p15:guide id="11" pos="5184" userDrawn="1">
          <p15:clr>
            <a:srgbClr xmlns:a="http://schemas.openxmlformats.org/drawingml/2006/main" val="F26B43"/>
          </p15:clr>
        </p15:guide>
        <p15:guide id="12" pos="6200" userDrawn="1">
          <p15:clr>
            <a:srgbClr xmlns:a="http://schemas.openxmlformats.org/drawingml/2006/main" val="F26B43"/>
          </p15:clr>
        </p15:guide>
        <p15:guide id="13" pos="6416" userDrawn="1">
          <p15:clr>
            <a:srgbClr xmlns:a="http://schemas.openxmlformats.org/drawingml/2006/main" val="F26B43"/>
          </p15:clr>
        </p15:guide>
        <p15:guide id="14" pos="7432" userDrawn="1">
          <p15:clr>
            <a:srgbClr xmlns:a="http://schemas.openxmlformats.org/drawingml/2006/main" val="F26B43"/>
          </p15:clr>
        </p15:guide>
        <p15:guide id="15" orient="horz" userDrawn="1">
          <p15:clr>
            <a:srgbClr xmlns:a="http://schemas.openxmlformats.org/drawingml/2006/main" val="F26B43"/>
          </p15:clr>
        </p15:guide>
        <p15:guide id="17" orient="horz" pos="248" userDrawn="1">
          <p15:clr>
            <a:srgbClr xmlns:a="http://schemas.openxmlformats.org/drawingml/2006/main" val="F26B43"/>
          </p15:clr>
        </p15:guide>
        <p15:guide id="18" orient="horz" pos="656" userDrawn="1">
          <p15:clr>
            <a:srgbClr xmlns:a="http://schemas.openxmlformats.org/drawingml/2006/main" val="F26B43"/>
          </p15:clr>
        </p15:guide>
        <p15:guide id="19" orient="horz" pos="872" userDrawn="1">
          <p15:clr>
            <a:srgbClr xmlns:a="http://schemas.openxmlformats.org/drawingml/2006/main" val="F26B43"/>
          </p15:clr>
        </p15:guide>
        <p15:guide id="20" orient="horz" pos="1280" userDrawn="1">
          <p15:clr>
            <a:srgbClr xmlns:a="http://schemas.openxmlformats.org/drawingml/2006/main" val="F26B43"/>
          </p15:clr>
        </p15:guide>
        <p15:guide id="21" orient="horz" pos="1496" userDrawn="1">
          <p15:clr>
            <a:srgbClr xmlns:a="http://schemas.openxmlformats.org/drawingml/2006/main" val="F26B43"/>
          </p15:clr>
        </p15:guide>
        <p15:guide id="22" orient="horz" pos="1904" userDrawn="1">
          <p15:clr>
            <a:srgbClr xmlns:a="http://schemas.openxmlformats.org/drawingml/2006/main" val="F26B43"/>
          </p15:clr>
        </p15:guide>
        <p15:guide id="23" orient="horz" pos="2120" userDrawn="1">
          <p15:clr>
            <a:srgbClr xmlns:a="http://schemas.openxmlformats.org/drawingml/2006/main" val="F26B43"/>
          </p15:clr>
        </p15:guide>
        <p15:guide id="24" orient="horz" pos="2528" userDrawn="1">
          <p15:clr>
            <a:srgbClr xmlns:a="http://schemas.openxmlformats.org/drawingml/2006/main" val="F26B43"/>
          </p15:clr>
        </p15:guide>
        <p15:guide id="25" orient="horz" pos="2744" userDrawn="1">
          <p15:clr>
            <a:srgbClr xmlns:a="http://schemas.openxmlformats.org/drawingml/2006/main" val="F26B43"/>
          </p15:clr>
        </p15:guide>
        <p15:guide id="26" orient="horz" pos="3152" userDrawn="1">
          <p15:clr>
            <a:srgbClr xmlns:a="http://schemas.openxmlformats.org/drawingml/2006/main" val="F26B43"/>
          </p15:clr>
        </p15:guide>
        <p15:guide id="27" orient="horz" pos="3368" userDrawn="1">
          <p15:clr>
            <a:srgbClr xmlns:a="http://schemas.openxmlformats.org/drawingml/2006/main" val="F26B43"/>
          </p15:clr>
        </p15:guide>
        <p15:guide id="28" orient="horz" pos="3776" userDrawn="1">
          <p15:clr>
            <a:srgbClr xmlns:a="http://schemas.openxmlformats.org/drawingml/2006/main" val="F26B43"/>
          </p15:clr>
        </p15:guide>
        <p15:guide id="29" orient="horz" pos="4088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fdc7937d4848c2" /><Relationship Type="http://schemas.openxmlformats.org/officeDocument/2006/relationships/notesSlide" Target="/ppt/notesSlides/notesSlide1.xml" Id="R88138fe0bb834e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556f25314f4f05" /><Relationship Type="http://schemas.openxmlformats.org/officeDocument/2006/relationships/notesSlide" Target="/ppt/notesSlides/notesSlide2.xml" Id="Rc15d25cb63ce42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fbfe3fce2d48d2" /><Relationship Type="http://schemas.openxmlformats.org/officeDocument/2006/relationships/notesSlide" Target="/ppt/notesSlides/notesSlide3.xml" Id="R669c649e551c49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b18ed580974d3c" /><Relationship Type="http://schemas.openxmlformats.org/officeDocument/2006/relationships/notesSlide" Target="/ppt/notesSlides/notesSlide4.xml" Id="Rb22b32f8669844a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987858bc324490" /><Relationship Type="http://schemas.openxmlformats.org/officeDocument/2006/relationships/notesSlide" Target="/ppt/notesSlides/notesSlide5.xml" Id="R9463b56c414940e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adabb695be4b89" /><Relationship Type="http://schemas.openxmlformats.org/officeDocument/2006/relationships/notesSlide" Target="/ppt/notesSlides/notesSlide6.xml" Id="R2ea87dcd238848f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4b30d840354585" /><Relationship Type="http://schemas.openxmlformats.org/officeDocument/2006/relationships/notesSlide" Target="/ppt/notesSlides/notesSlide7.xml" Id="R4f73d7f207054bc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a7004c4edc45b5" /><Relationship Type="http://schemas.openxmlformats.org/officeDocument/2006/relationships/notesSlide" Target="/ppt/notesSlides/notesSlide8.xml" Id="R3adf7c3b40a4443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7ae09ac887492a" /><Relationship Type="http://schemas.openxmlformats.org/officeDocument/2006/relationships/chart" Target="/ppt/slides/charts/chart1.xml" Id="R15d7f003011b4551" /><Relationship Type="http://schemas.openxmlformats.org/officeDocument/2006/relationships/notesSlide" Target="/ppt/notesSlides/notesSlide9.xml" Id="R556d31633930469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c6c5c3db60429e" /><Relationship Type="http://schemas.openxmlformats.org/officeDocument/2006/relationships/notesSlide" Target="/ppt/notesSlides/notesSlide10.xml" Id="R415b7bb76a6644b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1484367cb048d6" /><Relationship Type="http://schemas.openxmlformats.org/officeDocument/2006/relationships/notesSlide" Target="/ppt/notesSlides/notesSlide11.xml" Id="R56ee5845d29f49af" /></Relationships>
</file>

<file path=ppt/slides/charts/chart1.xml><?xml version="1.0" encoding="utf-8"?>
<c:chartSpace xmlns:mc="http://schemas.openxmlformats.org/markup-compatibility/2006" xmlns:c14="http://schemas.microsoft.com/office/drawing/2007/8/2/chart" xmlns:c="http://schemas.openxmlformats.org/drawingml/2006/chart" mc:Ignorable="c14">
  <c:lang val="en-US"/>
  <c:roundedCorners val="0"/>
  <mc:AlternateContent>
    <mc:Choice Requires="c14">
      <c14:style val="102"/>
    </mc:Choice>
    <mc:Fallback>
      <c:style val="2"/>
    </mc:Fallback>
  </mc:AlternateContent>
  <c:chart>
    <c:title>
      <c:layout>
        <c:manualLayout>
          <c:xMode val="edge"/>
          <c:yMode val="edge"/>
          <c:x val="0.013821697687269586"/>
          <c:y val="0.02527575450117403"/>
        </c:manualLayout>
      </c:layout>
      <c:txPr>
        <a:bodyPr xmlns:a="http://schemas.openxmlformats.org/drawingml/2006/main" rot="0" vert="horz" anchor="ctr" anchorCtr="1"/>
        <a:lstStyle xmlns:a="http://schemas.openxmlformats.org/drawingml/2006/main"/>
        <a:p xmlns:a="http://schemas.openxmlformats.org/drawingml/2006/main">
          <a:pPr>
            <a:defRPr sz="1800" b="0" i="0" u="none">
              <a:solidFill>
                <a:schemeClr val="tx1"/>
              </a:solidFill>
              <a:latin typeface="+mn-lt"/>
              <a:ea typeface="+mn-lt"/>
              <a:cs typeface="+mn-lt"/>
            </a:defRPr>
          </a:pPr>
        </a:p>
      </c:txPr>
    </c:title>
    <c:autoTitleDeleted val="0"/>
    <c:plotArea>
      <c:layout>
        <c:manualLayout>
          <c:layoutTarget val="inner"/>
          <c:xMode val="edge"/>
          <c:yMode val="edge"/>
          <c:x val="0.08245552360503024"/>
          <c:y val="0.16727494328876974"/>
          <c:w val="0.8907956446698214"/>
          <c:h val="0.696646962192645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 xmlns:a="http://schemas.openxmlformats.org/drawingml/2006/main">
              <a:schemeClr val="accent1"/>
            </a:solidFill>
            <a:ln xmlns:a="http://schemas.openxmlformats.org/drawingml/2006/main">
              <a:noFill/>
            </a:ln>
          </c:spPr>
          <c:invertIfNegative val="0"/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400" b="1" i="0" u="none" kern="1200" baseline="0">
                    <a:solidFill>
                      <a:schemeClr val="bg1"/>
                    </a:solidFill>
                    <a:latin typeface="+mn-lt"/>
                    <a:ea typeface="+mn-lt"/>
                    <a:cs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leaderLines>
              <c:spPr>
                <a:ln xmlns:a="http://schemas.openxmlformats.org/drawingml/2006/main" w="9525" cmpd="sng">
                  <a:solidFill>
                    <a:schemeClr val="tx1">
                      <a:lumMod val="35000"/>
                      <a:lumOff val="65000"/>
                    </a:schemeClr>
                  </a:solidFill>
                </a:ln>
              </c:spPr>
            </c:leaderLines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1.6</c:v>
                </c:pt>
                <c:pt idx="1">
                  <c:v>2.2</c:v>
                </c:pt>
                <c:pt idx="2">
                  <c:v>3.5</c:v>
                </c:pt>
                <c:pt idx="3">
                  <c:v>5.8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3"/>
        <c:axId val="1785928255"/>
        <c:axId val="176922982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xmlns:a="http://schemas.openxmlformats.org/drawingml/2006/main" w="28575">
              <a:solidFill>
                <a:schemeClr val="tx2">
                  <a:lumMod val="50000"/>
                  <a:lumOff val="50000"/>
                </a:schemeClr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chemeClr val="tx2">
                  <a:lumMod val="50000"/>
                  <a:lumOff val="50000"/>
                </a:schemeClr>
              </a:solidFill>
              <a:ln xmlns:a="http://schemas.openxmlformats.org/drawingml/2006/main" w="9525">
                <a:solidFill>
                  <a:schemeClr val="tx2">
                    <a:lumMod val="50000"/>
                    <a:lumOff val="50000"/>
                  </a:schemeClr>
                </a:solidFill>
              </a:ln>
            </c:spPr>
          </c:marke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400" b="1" i="0" u="none" kern="1200" baseline="0">
                    <a:solidFill>
                      <a:schemeClr val="tx1"/>
                    </a:solidFill>
                    <a:latin typeface="+mn-lt"/>
                    <a:ea typeface="+mn-lt"/>
                    <a:cs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leaderLines>
              <c:spPr>
                <a:ln xmlns:a="http://schemas.openxmlformats.org/drawingml/2006/main" w="9525" cmpd="sng">
                  <a:solidFill>
                    <a:schemeClr val="tx1">
                      <a:lumMod val="35000"/>
                      <a:lumOff val="65000"/>
                    </a:schemeClr>
                  </a:solidFill>
                </a:ln>
              </c:spPr>
            </c:leaderLines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1.7</c:v>
                </c:pt>
                <c:pt idx="1">
                  <c:v>2.4</c:v>
                </c:pt>
                <c:pt idx="2">
                  <c:v>5</c:v>
                </c:pt>
                <c:pt idx="3">
                  <c:v>8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785928255"/>
        <c:axId val="1769229823"/>
      </c:lineChart>
      <c:catAx>
        <c:axId val="17859282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 cmpd="sng">
            <a:solidFill>
              <a:schemeClr val="tx1"/>
            </a:solidFill>
          </a:ln>
        </c:spPr>
        <c:txPr>
          <a:bodyPr xmlns:a="http://schemas.openxmlformats.org/drawingml/2006/main" rot="-60000000" spcFirstLastPara="1" vert="horz" wrap="square" anchor="ctr" anchorCtr="1"/>
          <a:lstStyle xmlns:a="http://schemas.openxmlformats.org/drawingml/2006/main"/>
          <a:p xmlns:a="http://schemas.openxmlformats.org/drawingml/2006/main">
            <a:pPr>
              <a:defRPr sz="1100" b="0" i="0" u="none" kern="1200" baseline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pPr>
          </a:p>
        </c:txPr>
        <c:crossAx val="1769229823"/>
        <c:crosses val="autoZero"/>
        <c:lblAlgn val="ctr"/>
        <c:lblOffset val="100"/>
        <c:noMultiLvlLbl val="0"/>
      </c:catAx>
      <c:valAx>
        <c:axId val="1769229823"/>
        <c:scaling>
          <c:orientation val="minMax"/>
          <c:max val="8"/>
        </c:scaling>
        <c:delete val="0"/>
        <c:axPos val="l"/>
        <c:majorGridlines>
          <c:spPr>
            <a:ln xmlns:a="http://schemas.openxmlformats.org/drawingml/2006/main" w="9525" cmpd="sng">
              <a:noFill/>
            </a:ln>
          </c:spPr>
        </c:majorGridlines>
        <c:numFmt formatCode="General" sourceLinked="1"/>
        <c:majorTickMark val="none"/>
        <c:minorTickMark val="none"/>
        <c:tickLblPos val="nextTo"/>
        <c:spPr>
          <a:ln xmlns:a="http://schemas.openxmlformats.org/drawingml/2006/main">
            <a:noFill/>
          </a:ln>
        </c:spPr>
        <c:txPr>
          <a:bodyPr xmlns:a="http://schemas.openxmlformats.org/drawingml/2006/main" rot="-60000000" vert="horz" anchor="ctr" anchorCtr="1"/>
          <a:lstStyle xmlns:a="http://schemas.openxmlformats.org/drawingml/2006/main"/>
          <a:p xmlns:a="http://schemas.openxmlformats.org/drawingml/2006/main">
            <a:pPr>
              <a:defRPr sz="1100" b="0" i="0" u="none" kern="1200" baseline="0">
                <a:solidFill>
                  <a:schemeClr val="tx1"/>
                </a:solidFill>
                <a:latin typeface="Helvetica Neue Medium"/>
                <a:ea typeface="Helvetica Neue Medium"/>
                <a:cs typeface="Helvetica Neue Medium"/>
              </a:defRPr>
            </a:pPr>
          </a:p>
        </c:txPr>
        <c:crossAx val="1785928255"/>
        <c:crosses val="autoZero"/>
        <c:crossBetween val="between"/>
        <c:majorUnit val="2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C47CD47D-0812-5F5E-8AA0-B4316F994F4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738755"/>
            <a:ext cx="9448800" cy="249149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7200"/>
              <a:t>OKVNS</a:t>
            </a:r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283B85AD-626B-46B7-0C36-31F5BABDE10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742208"/>
            <a:ext cx="5702301" cy="108024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/>
              <a:t>Plataforma TFM para gestionar configuracion key-value en tiempo de ejecucion, con API, admin web, YAML, MySQL y despliegue cloud-native.</a:t>
            </a:r>
          </a:p>
        </p:txBody>
      </p:sp>
      <p:sp>
        <p:nvSpPr>
          <p:cNvPr id="6" name="Subtitle 4">
            <a:extLst xmlns:a="http://schemas.openxmlformats.org/drawingml/2006/main">
              <a:ext uri="{FF2B5EF4-FFF2-40B4-BE49-F238E27FC236}">
                <a16:creationId xmlns:a16="http://schemas.microsoft.com/office/drawing/2014/main" id="{543BAB87-2ABE-9D84-8400-3B5ABA08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392241"/>
            <a:ext cx="5702300" cy="6491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sz="1800"/>
              <a:t>Trabajo Fin de Master - BigSchool</a:t>
            </a:r>
          </a:p>
        </p:txBody>
      </p:sp>
    </p:spTree>
    <p:extLst>
      <p:ext uri="{BB962C8B-B14F-4D97-AF65-F5344CB8AC3E}">
        <p14:creationId xmlns:p14="http://schemas.microsoft.com/office/powerpoint/2010/main" val="325878331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2FC4FC7-396D-BE8D-1F0E-C849A74CA5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OKVNS TFM</a:t>
            </a:r>
          </a:p>
        </p:txBody>
      </p:sp>
      <p:sp>
        <p:nvSpPr>
          <p:cNvPr id="2" name="Slide Number Placeholder 1">
            <a:extLst xmlns:a="http://schemas.openxmlformats.org/drawingml/2006/main">
              <a:ext uri="{FF2B5EF4-FFF2-40B4-BE49-F238E27FC236}">
                <a16:creationId xmlns:a16="http://schemas.microsoft.com/office/drawing/2014/main" id="{B3BD1300-E71C-732F-134B-B7EE0492A9B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FC59BB80-DF6A-0532-F91A-4A78B8E58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presentacion sigue el recorrido de una plataforma completa</a:t>
            </a:r>
          </a:p>
        </p:txBody>
      </p:sp>
      <p:graphicFrame>
        <p:nvGraphicFramePr>
          <p:cNvPr id="10" name="Table 3"/>
          <p:cNvGraphicFramePr/>
          <p:nvPr/>
        </p:nvGraphicFramePr>
        <p:xfrm>
          <a:off xmlns:a="http://schemas.openxmlformats.org/drawingml/2006/main" x="393700" y="2080009"/>
          <a:ext xmlns:a="http://schemas.openxmlformats.org/drawingml/2006/main" cx="11404600" cy="391438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8509"/>
                <a:gridCol w="10526091"/>
              </a:tblGrid>
              <a:tr h="652398">
                <a:tc>
                  <a:txBody>
                    <a:bodyPr/>
                    <a:lstStyle/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900" b="0" i="0" u="none" cap="none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01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900" b="0" i="0" u="none" cap="none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Problema y objetivo del proyecto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52398">
                <a:tc>
                  <a:txBody>
                    <a:bodyPr/>
                    <a:lstStyle/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900" b="0" i="0" u="none" cap="none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02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900" b="0" i="0" u="none" cap="none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Arquitectura, componentes y stack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52398">
                <a:tc>
                  <a:txBody>
                    <a:bodyPr/>
                    <a:lstStyle/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900" b="0" i="0" u="none" cap="none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03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900" b="0" i="0" u="none" cap="none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Funciones principales y contrato YAML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52398">
                <a:tc>
                  <a:txBody>
                    <a:bodyPr/>
                    <a:lstStyle/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900" b="0" i="0" u="none" cap="none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04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900" b="0" i="0" u="none" cap="none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OpenSpec, ADRs y trazabilidad tecnica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52398">
                <a:tc>
                  <a:txBody>
                    <a:bodyPr/>
                    <a:lstStyle/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900" b="0" i="0" u="none" cap="none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05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900" b="0" i="0" u="none" cap="none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Cobertura, despliegue e implicaciones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52398">
                <a:tc>
                  <a:txBody>
                    <a:bodyPr/>
                    <a:lstStyle/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900" b="0" i="0" u="none" cap="none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06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900" b="0" i="0" u="none" cap="none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Cierre y lectura del resultado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587740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Placeholder 1">
            <a:extLst xmlns:a="http://schemas.openxmlformats.org/drawingml/2006/main">
              <a:ext uri="{FF2B5EF4-FFF2-40B4-BE49-F238E27FC236}">
                <a16:creationId xmlns:a16="http://schemas.microsoft.com/office/drawing/2014/main" id="{7FAC9A03-119F-393D-2295-2587BE7C4F7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OKVNS TFM</a:t>
            </a:r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CCCB27A2-1D9F-6514-0821-C7CC3F67552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3FD2F4B0-1B4E-4F78-8608-85E7ADD907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488"/>
            <a:ext cx="11404600" cy="1283032"/>
          </a:xfr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OKVNS separa la experiencia de administracion del nucleo de reglas y la persistencia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B4C5563-C118-E2D4-2A1A-F84171FF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953" y="3365501"/>
            <a:ext cx="3568700" cy="26289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7EC77EB-07E7-2818-9132-6416EC5E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501"/>
            <a:ext cx="3568700" cy="26289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14F9DBD7-0427-326B-17D5-5DD215C44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821" y="4146160"/>
            <a:ext cx="2949339" cy="143287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Nucleo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Casos de uso, puertos y dominio mantienen reglas independientes de frameworks.</a:t>
            </a:r>
          </a:p>
        </p:txBody>
      </p:sp>
      <p:sp>
        <p:nvSpPr>
          <p:cNvPr id="1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A81FFF27-06E1-B925-B772-E8C07A029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6094" y="4146160"/>
            <a:ext cx="2949339" cy="143287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Persistencia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MySQL almacena namespaces y entries con restricciones y transacciones.</a:t>
            </a:r>
          </a:p>
        </p:txBody>
      </p:sp>
      <p:sp>
        <p:nvSpPr>
          <p:cNvPr id="14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D182FC54-B4D0-2FD9-7909-F4321F70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645" y="3694101"/>
            <a:ext cx="233806" cy="233717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</a:p>
        </p:txBody>
      </p:sp>
      <p:sp>
        <p:nvSpPr>
          <p:cNvPr id="15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12304657-C94E-6AEC-95B3-FF04FD52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3270" y="3694102"/>
            <a:ext cx="233806" cy="233717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CEC1020B-1BFB-C461-94A3-B04496D48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306" y="3365501"/>
            <a:ext cx="3568700" cy="26289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BF9CE9B1-F78E-2E93-3127-A76A196D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174" y="4146160"/>
            <a:ext cx="2949339" cy="143287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Presentacion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Admin web React/Vite y API REST NestJS exponen los flujos de operacion.</a:t>
            </a:r>
          </a:p>
        </p:txBody>
      </p:sp>
      <p:sp>
        <p:nvSpPr>
          <p:cNvPr id="8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DFAB1693-7B48-B899-1715-D7B6F34D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998" y="3694101"/>
            <a:ext cx="233806" cy="233717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</a:p>
        </p:txBody>
      </p:sp>
      <p:sp>
        <p:nvSpPr>
          <p:cNvPr id="9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34ED89C7-2856-344F-42B0-44B6A09E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1" y="1450523"/>
            <a:ext cx="11404599" cy="16292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La plataforma organiza configuracion UTF-8 en namespaces y entries. La UI administra los recursos; la API aplica contratos; la aplicacion orquesta casos de uso; el dominio conserva invariantes; MySQL aporta durabilidad.</a:t>
            </a:r>
          </a:p>
        </p:txBody>
      </p:sp>
    </p:spTree>
    <p:extLst>
      <p:ext uri="{BB962C8B-B14F-4D97-AF65-F5344CB8AC3E}">
        <p14:creationId xmlns:p14="http://schemas.microsoft.com/office/powerpoint/2010/main" val="156618307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 Placeholder 10">
            <a:extLst xmlns:a="http://schemas.openxmlformats.org/drawingml/2006/main">
              <a:ext uri="{FF2B5EF4-FFF2-40B4-BE49-F238E27FC236}">
                <a16:creationId xmlns:a16="http://schemas.microsoft.com/office/drawing/2014/main" id="{C4B207BF-6BAB-0D91-F12C-1E6FFBCC420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OKVNS TFM</a:t>
            </a:r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AA5CCC43-8737-3A41-CAE5-94B8C1D29B5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8B77B614-E3C4-8964-0877-92800631D4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El stack combina productividad TypeScript con limites claros entre capas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24774D92-572F-796B-CFA0-75F5BDE3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236985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0439ECA-9193-112F-E7E6-326447CE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7" y="266478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Frontend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React, Vite, cliente API aislado y React Testing Library.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ED27E76-B721-E464-2478-718E91A6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43" y="236985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40DA34A0-E630-37E8-0332-0E57245D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278" y="266478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indent="0" algn="l" defTabSz="9144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600" b="0" i="0" u="none" cap="none">
                <a:ln>
                  <a:noFill/>
                </a:ln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Backend</a:t>
            </a:r>
          </a:p>
          <a:p xmlns:a="http://schemas.openxmlformats.org/drawingml/2006/main">
            <a:pPr marL="0" marR="0" indent="0" algn="l" defTabSz="91440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</a:pPr>
            <a:r>
              <a:rPr sz="1600" b="0" i="0" u="none" cap="none">
                <a:ln>
                  <a:noFill/>
                </a:ln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NestJS, MySQL 8.4, mysql2, migraciones SQL y OpenAPI/Swagger.</a:t>
            </a:r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F421FB3D-82DC-94B6-ADD3-99BB3C8E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437010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122C651-AF0B-D7E1-E9EF-3F4BC1C5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7" y="466503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Despliegue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Docker Compose, Kubernetes, Helm y publicacion de imagenes Docker.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EDA590ED-3B5F-06BC-B0E9-C6DC4E8BB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43" y="437010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B1BBBB3-DA5C-C3DF-7DD6-33AB7A85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278" y="466503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Calidad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Vitest, cobertura V8, ESLint, Prettier y Playwright E2E.</a:t>
            </a:r>
          </a:p>
        </p:txBody>
      </p:sp>
      <p:sp>
        <p:nvSpPr>
          <p:cNvPr id="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4E6B723-686B-D8DD-4DA5-3E62BDE4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057501"/>
            <a:ext cx="11404599" cy="1012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La decision base es un monorepo pnpm: contratos compartidos, builds repetibles y pruebas por workspace.</a:t>
            </a:r>
          </a:p>
        </p:txBody>
      </p:sp>
    </p:spTree>
    <p:extLst>
      <p:ext uri="{BB962C8B-B14F-4D97-AF65-F5344CB8AC3E}">
        <p14:creationId xmlns:p14="http://schemas.microsoft.com/office/powerpoint/2010/main" val="176600024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Placeholder 1">
            <a:extLst xmlns:a="http://schemas.openxmlformats.org/drawingml/2006/main">
              <a:ext uri="{FF2B5EF4-FFF2-40B4-BE49-F238E27FC236}">
                <a16:creationId xmlns:a16="http://schemas.microsoft.com/office/drawing/2014/main" id="{B4523B68-CB58-F426-D824-531128F4CB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OKVNS TFM</a:t>
            </a:r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DBC152D0-CDF3-969A-A32E-0A1C97DA936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9CA28587-E9DB-FD6E-67D5-B6C4D20349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Las funcionalidades cubren administracion, contrato de datos y operacion</a:t>
            </a:r>
          </a:p>
        </p:txBody>
      </p:sp>
      <p:sp>
        <p:nvSpPr>
          <p:cNvPr id="12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2575F3F3-5548-310C-CA8A-2BB5F4F1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749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Crear, listar, filtrar, ordenar, actualizar y eliminar agrupaciones de configuracion.</a:t>
            </a:r>
          </a:p>
        </p:txBody>
      </p:sp>
      <p:sp>
        <p:nvSpPr>
          <p:cNvPr id="1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50C3B7B-28A7-FE2B-805B-9E84EA8C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3749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Namespaces</a:t>
            </a:r>
          </a:p>
        </p:txBody>
      </p:sp>
      <p:sp>
        <p:nvSpPr>
          <p:cNvPr id="16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A989BD75-DE8D-B290-9745-1D9E8821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655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Gestionar claves, valores, descripciones, timestamps y marca env_dependent.</a:t>
            </a:r>
          </a:p>
        </p:txBody>
      </p:sp>
      <p:sp>
        <p:nvSpPr>
          <p:cNvPr id="17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53F591C-9E43-179D-176D-24989B8B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3655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Entries</a:t>
            </a:r>
          </a:p>
        </p:txBody>
      </p:sp>
      <p:sp>
        <p:nvSpPr>
          <p:cNvPr id="1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A7B38CBA-379D-8AEA-4C18-49046133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3561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Importar y exportar namespaces con validacion estricta y operaciones atomicas.</a:t>
            </a:r>
          </a:p>
        </p:txBody>
      </p:sp>
      <p:sp>
        <p:nvSpPr>
          <p:cNvPr id="19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558135D-EC8F-1FA0-D966-C8D4FA20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43561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YAML</a:t>
            </a:r>
          </a:p>
        </p:txBody>
      </p:sp>
      <p:sp>
        <p:nvSpPr>
          <p:cNvPr id="2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59682F0D-6358-B00F-89D9-1AC37090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3594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Health, readiness, Docker Compose, Kubernetes, Helm y documentacion OpenAPI.</a:t>
            </a:r>
          </a:p>
        </p:txBody>
      </p:sp>
      <p:sp>
        <p:nvSpPr>
          <p:cNvPr id="2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858787E0-CB4B-BCAC-702A-ECD3032D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53594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Operabilidad</a:t>
            </a:r>
          </a:p>
        </p:txBody>
      </p:sp>
      <p:sp>
        <p:nvSpPr>
          <p:cNvPr id="3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982CDA0F-E73C-7EBB-EE08-FECCE69C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374901"/>
            <a:ext cx="3568700" cy="36194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800">
                <a:latin typeface="Helvetica Neue"/>
                <a:ea typeface="Helvetica Neue"/>
                <a:cs typeface="Helvetica Neue"/>
              </a:rPr>
              <a:t>Capacidades clave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800">
                <a:latin typeface="Helvetica Neue"/>
                <a:ea typeface="Helvetica Neue"/>
                <a:cs typeface="Helvetica Neue"/>
              </a:rPr>
              <a:t>OKVNS no es solo una API CRUD: integra validacion, importacion/exportacion, UI operativa, persistencia y observabilidad basica.</a:t>
            </a:r>
          </a:p>
        </p:txBody>
      </p:sp>
    </p:spTree>
    <p:extLst>
      <p:ext uri="{BB962C8B-B14F-4D97-AF65-F5344CB8AC3E}">
        <p14:creationId xmlns:p14="http://schemas.microsoft.com/office/powerpoint/2010/main" val="67611695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C44867F-CEA9-06EF-47ED-8F63A6DAE6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OKVNS TFM</a:t>
            </a:r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787BCE7D-BEA2-12A4-00CE-1447A3C11BC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451E053B-8CD7-DAF7-BA60-B58D00D61D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El contrato YAML protege los cambios masivos antes de tocar la base de datos</a:t>
            </a:r>
          </a:p>
        </p:txBody>
      </p:sp>
      <p:sp>
        <p:nvSpPr>
          <p:cNvPr id="534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92B9D060-8F6B-685E-C699-7CF3FDA228BA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393700" y="1722438"/>
            <a:ext cx="5537200" cy="8651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>
                <a:latin typeface="Helvetica Neue"/>
                <a:ea typeface="Helvetica Neue"/>
                <a:cs typeface="Helvetica Neue"/>
              </a:rPr>
              <a:t>Importacion/exportacion segura</a:t>
            </a:r>
          </a:p>
        </p:txBody>
      </p:sp>
      <p:sp>
        <p:nvSpPr>
          <p:cNvPr id="2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F1357382-F889-8A40-7C64-C4E276E6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317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YAML crudo, sin fences markdown</a:t>
            </a:r>
          </a:p>
        </p:txBody>
      </p:sp>
      <p:sp>
        <p:nvSpPr>
          <p:cNvPr id="3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DECE1942-1885-9577-DF5F-685A8B1C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3015150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0BD0609-EAC0-DFEC-8761-6C5A72DB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990316"/>
            <a:ext cx="5537200" cy="28846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marL="0" marR="0" indent="0" algn="l" defTabSz="91440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</a:pPr>
            <a:r>
              <a:rPr sz="1600" b="0" i="0" u="none" cap="none">
                <a:ln>
                  <a:noFill/>
                </a:ln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El formato canonico usa namespaces: [...] y admite una forma heredada de namespace unico solo al importar. Antes de mutar almacenamiento, el parser valida estructura, nombres, duplicados, tipos, descripciones, env_dependent y tamano del payload.</a:t>
            </a:r>
          </a:p>
        </p:txBody>
      </p:sp>
      <p:sp>
        <p:nvSpPr>
          <p:cNvPr id="16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01B260BF-9264-3C70-DF2D-2E6EA83A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99916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Exportacion canonica y ordenada</a:t>
            </a:r>
          </a:p>
        </p:txBody>
      </p:sp>
      <p:sp>
        <p:nvSpPr>
          <p:cNvPr id="17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A6CF1E9A-BF4C-E7B2-D556-8AB5FB2B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3624749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</a:p>
        </p:txBody>
      </p:sp>
      <p:sp>
        <p:nvSpPr>
          <p:cNvPr id="1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FE696631-18B5-8115-E5AD-ACCFD622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4765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Importacion atomica por peticion</a:t>
            </a:r>
          </a:p>
        </p:txBody>
      </p:sp>
      <p:sp>
        <p:nvSpPr>
          <p:cNvPr id="19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6ECBDA1E-6C7D-6B0F-A430-DF8A0965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4239598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</a:p>
        </p:txBody>
      </p:sp>
      <p:sp>
        <p:nvSpPr>
          <p:cNvPr id="2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FC4B09F-4593-687E-52A3-7E683F7F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4364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Upsert por nombre de namespace</a:t>
            </a:r>
          </a:p>
        </p:txBody>
      </p:sp>
      <p:sp>
        <p:nvSpPr>
          <p:cNvPr id="21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006032E6-DDFC-FA22-4D08-3BFFC755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4849197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</a:p>
        </p:txBody>
      </p:sp>
      <p:sp>
        <p:nvSpPr>
          <p:cNvPr id="2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DAB1F81-E12B-29DC-E09F-27F129E4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46664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Errores seguros INVALID_YAML</a:t>
            </a:r>
          </a:p>
        </p:txBody>
      </p:sp>
      <p:sp>
        <p:nvSpPr>
          <p:cNvPr id="24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A052337A-4696-49F7-A089-E21DA71A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5471497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333187913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0AD2B367-4B64-657F-20CC-D17632C47D9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OKVNS TFM</a:t>
            </a:r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3FA98E-8546-AC84-6BD4-8DF0BEBBB87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11" name="Title 10">
            <a:extLst xmlns:a="http://schemas.openxmlformats.org/drawingml/2006/main">
              <a:ext uri="{FF2B5EF4-FFF2-40B4-BE49-F238E27FC236}">
                <a16:creationId xmlns:a16="http://schemas.microsoft.com/office/drawing/2014/main" id="{D802DC3F-F6C4-90E8-847D-BA0C2E4445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OpenSpec deja una trazabilidad clara entre requisitos y entregables</a:t>
            </a:r>
          </a:p>
        </p:txBody>
      </p:sp>
      <p:cxnSp>
        <p:nvCxnSpPr>
          <p:cNvPr id="33" name="Google Shape;2259;p159"/>
          <p:cNvCxnSpPr>
            <a:stCxn xmlns:a="http://schemas.openxmlformats.org/drawingml/2006/main" id="3" idx="2"/>
          </p:cNvCxnSpPr>
          <p:nvPr/>
        </p:nvCxnSpPr>
        <p:spPr>
          <a:xfrm xmlns:a="http://schemas.openxmlformats.org/drawingml/2006/main">
            <a:off x="337718" y="5341621"/>
            <a:ext cx="12245400" cy="3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Google Shape;2260;p159">
            <a:extLst xmlns:a="http://schemas.openxmlformats.org/drawingml/2006/main">
              <a:ext uri="{FF2B5EF4-FFF2-40B4-BE49-F238E27FC236}">
                <a16:creationId xmlns:a16="http://schemas.microsoft.com/office/drawing/2014/main" id="{96976673-0764-B027-B369-C8C94D39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18" y="5288071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" name="Google Shape;2261;p159">
            <a:extLst xmlns:a="http://schemas.openxmlformats.org/drawingml/2006/main">
              <a:ext uri="{FF2B5EF4-FFF2-40B4-BE49-F238E27FC236}">
                <a16:creationId xmlns:a16="http://schemas.microsoft.com/office/drawing/2014/main" id="{80D9DF3C-FD01-7A5C-C521-9B86480D4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50" y="5288071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Google Shape;2262;p159">
            <a:extLst xmlns:a="http://schemas.openxmlformats.org/drawingml/2006/main">
              <a:ext uri="{FF2B5EF4-FFF2-40B4-BE49-F238E27FC236}">
                <a16:creationId xmlns:a16="http://schemas.microsoft.com/office/drawing/2014/main" id="{37DF6577-8813-93FC-E0AA-22F96D34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50" y="5288071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18323F9C-3DB1-9BB3-9462-18B6435C1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1401762"/>
            <a:ext cx="3568700" cy="36195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Content Placeholder 8">
            <a:extLst xmlns:a="http://schemas.openxmlformats.org/drawingml/2006/main">
              <a:ext uri="{FF2B5EF4-FFF2-40B4-BE49-F238E27FC236}">
                <a16:creationId xmlns:a16="http://schemas.microsoft.com/office/drawing/2014/main" id="{052F45FF-C9C5-2664-7FF7-CFEC2973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381" y="1806797"/>
            <a:ext cx="2949339" cy="256676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08-09 jul.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Base del servicio, migracion de markdown a YAML e importacion multipart.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C3E867C1-C7DA-85C7-C8DC-55F132F2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75" y="1401762"/>
            <a:ext cx="3568700" cy="36195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Content Placeholder 8">
            <a:extLst xmlns:a="http://schemas.openxmlformats.org/drawingml/2006/main">
              <a:ext uri="{FF2B5EF4-FFF2-40B4-BE49-F238E27FC236}">
                <a16:creationId xmlns:a16="http://schemas.microsoft.com/office/drawing/2014/main" id="{5C40FE43-DE8E-7C68-A6D4-F8D8AECE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56" y="1806797"/>
            <a:ext cx="2949339" cy="256676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13-15 jul.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MySQL, OpenAPI, wrapper, descripciones, timestamps, env_dependent y paginacion.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EA9CAD1D-ACB2-1454-6255-0DA0ECB85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38" y="1401762"/>
            <a:ext cx="3568700" cy="36195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Content Placeholder 8">
            <a:extLst xmlns:a="http://schemas.openxmlformats.org/drawingml/2006/main">
              <a:ext uri="{FF2B5EF4-FFF2-40B4-BE49-F238E27FC236}">
                <a16:creationId xmlns:a16="http://schemas.microsoft.com/office/drawing/2014/main" id="{AECA4705-7C1E-A1DB-1156-729DDE0C5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19" y="1806797"/>
            <a:ext cx="2949339" cy="256676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16 jul.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Helm chart e imagenes Docker publicables para despliegue reproducible.</a:t>
            </a:r>
          </a:p>
        </p:txBody>
      </p:sp>
      <p:sp>
        <p:nvSpPr>
          <p:cNvPr id="8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013F05BF-0D59-AD7B-B623-A2626D8E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50" y="5602406"/>
            <a:ext cx="2595934" cy="3919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Producto</a:t>
            </a:r>
          </a:p>
        </p:txBody>
      </p:sp>
      <p:sp>
        <p:nvSpPr>
          <p:cNvPr id="12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BD278DD6-3486-8F28-C119-6A1866BD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50" y="5602406"/>
            <a:ext cx="2595934" cy="3919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Base</a:t>
            </a:r>
          </a:p>
        </p:txBody>
      </p:sp>
      <p:sp>
        <p:nvSpPr>
          <p:cNvPr id="13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DAB1D750-F0E1-A3C4-989E-260B04C4A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39" y="5602406"/>
            <a:ext cx="2595934" cy="3919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Entrega</a:t>
            </a:r>
          </a:p>
        </p:txBody>
      </p:sp>
    </p:spTree>
    <p:extLst>
      <p:ext uri="{BB962C8B-B14F-4D97-AF65-F5344CB8AC3E}">
        <p14:creationId xmlns:p14="http://schemas.microsoft.com/office/powerpoint/2010/main" val="167841331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B8357537-167D-0462-A21D-DD8E87444B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OKVNS TFM</a:t>
            </a:r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27489CDA-073D-5D98-B832-86AD74222B7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08EBC4B8-BBC1-7C2A-F77D-BEC6394B0F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Los ADRs explican por que la solucion termino con esta arquitectura</a:t>
            </a:r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D81689CF-E5CF-3072-801D-DC2D321D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057501"/>
            <a:ext cx="11404599" cy="1012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Las decisiones registradas muestran una evolucion deliberada: primero MVP simple, despues contratos estrictos, pruebas, despliegue y persistencia durable.</a:t>
            </a:r>
          </a:p>
        </p:txBody>
      </p:sp>
      <p:graphicFrame>
        <p:nvGraphicFramePr>
          <p:cNvPr id="539" name="Google Shape;644;p93"/>
          <p:cNvGraphicFramePr/>
          <p:nvPr/>
        </p:nvGraphicFramePr>
        <p:xfrm>
          <a:off xmlns:a="http://schemas.openxmlformats.org/drawingml/2006/main" x="393700" y="2251080"/>
          <a:ext xmlns:a="http://schemas.openxmlformats.org/drawingml/2006/main" cx="11404599" cy="3932614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3906063"/>
                <a:gridCol w="1874634"/>
                <a:gridCol w="1874634"/>
                <a:gridCol w="1874634"/>
                <a:gridCol w="1874634"/>
              </a:tblGrid>
              <a:tr h="43702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ADR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Decision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Estado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Impacto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Comentario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0001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pnpm monorepo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Accepted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Contratos compartidos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Unifica API, frontend y paquetes.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0002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Clean architecture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Accepted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Bajo acoplamiento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Dominio sin frameworks.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0003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Storage memoria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Superseded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MVP rapido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Sustituido por MySQL.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0004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YAML estricto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Accepted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Import seguro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Valida antes de mutar.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0005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NestJS + React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Accepted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Stack presentacion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API y UI testeables.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0006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Contenedores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Accepted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Runtime stateless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Config externa.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0007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Pruebas + errores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Accepted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Calidad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No filtra detalles internos.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0008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MySQL durable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Accepted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Persistencia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+mn-lt"/>
                          <a:ea typeface="+mn-lt"/>
                          <a:cs typeface="+mn-lt"/>
                        </a:rPr>
                        <a:t>Transacciones y migraciones.</a:t>
                      </a: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85487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655C29-3D04-D88C-395C-E6000B5894F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OKVNS TFM</a:t>
            </a:r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F29587C6-818E-614C-4E8F-CD264BB5DD4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E3FE1DBC-074A-B31C-7363-7F3B844437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>La cobertura es maxima en las capas de reglas y menor donde entra infraestructura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D0871A73-A37A-1E7C-6089-9D4D7E09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236985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1C7B8C8B-F20A-31B8-CB9E-D406AEA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7" y="266478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93%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Admin web cubre cliente API, paginas, formularios y listados.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506E7539-B6D2-84FE-7719-21D73815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3" y="393700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B50BFF6E-013F-2CA5-21F9-98283DFC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8" y="688632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100%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Dominio, aplicacion, YAML, shared y wrapper alcanzan cobertura completa.</a:t>
            </a:r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C4E18E5B-6405-1268-D0C6-02B9E1F8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438153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F7239E1-4EF6-5723-3651-1149031AE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7" y="467646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spcBef>
                <a:spcPts val="0"/>
              </a:spcBef>
              <a:buFontTx/>
              <a:buNone/>
            </a:pP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66.17%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1300"/>
              </a:spcBef>
              <a:spcAft>
                <a:spcPts val="1300"/>
              </a:spcAft>
              <a:buFontTx/>
              <a:buNone/>
            </a:pP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API incluye esquemas e integracion MySQL omitida en la ejecucion base.</a:t>
            </a:r>
          </a:p>
        </p:txBody>
      </p:sp>
      <p:graphicFrame>
        <p:nvGraphicFramePr>
          <p:cNvPr id="570" name="Chart 3"/>
          <p:cNvGraphicFramePr/>
          <p:nvPr/>
        </p:nvGraphicFramePr>
        <p:xfrm>
          <a:off xmlns:a="http://schemas.openxmlformats.org/drawingml/2006/main" x="408690" y="1054100"/>
          <a:ext xmlns:a="http://schemas.openxmlformats.org/drawingml/2006/main" cx="5124182" cy="545200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5d7f003011b4551"/>
          </a:graphicData>
        </a:graphic>
      </p:graphicFrame>
      <p:sp>
        <p:nvSpPr>
          <p:cNvPr id="535" name="">
            <a:extLst xmlns:a="http://schemas.openxmlformats.org/drawingml/2006/main">
              <a:ext uri="{FF2B5EF4-FFF2-40B4-BE49-F238E27FC236}">
                <a16:creationId xmlns:a16="http://schemas.microsoft.com/office/drawing/2014/main" id="{A80D7F79-9A7C-4FA7-9502-F55CC897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28700"/>
            <a:ext cx="5219700" cy="519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36" name="">
            <a:extLst xmlns:a="http://schemas.openxmlformats.org/drawingml/2006/main">
              <a:ext uri="{FF2B5EF4-FFF2-40B4-BE49-F238E27FC236}">
                <a16:creationId xmlns:a16="http://schemas.microsoft.com/office/drawing/2014/main" id="{17B5834D-1D0D-4A11-93DB-00CA9F24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47750"/>
            <a:ext cx="5219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Cobertura por capa</a:t>
            </a:r>
          </a:p>
        </p:txBody>
      </p:sp>
      <p:sp>
        <p:nvSpPr>
          <p:cNvPr id="537" name="">
            <a:extLst xmlns:a="http://schemas.openxmlformats.org/drawingml/2006/main">
              <a:ext uri="{FF2B5EF4-FFF2-40B4-BE49-F238E27FC236}">
                <a16:creationId xmlns:a16="http://schemas.microsoft.com/office/drawing/2014/main" id="{18D4ADCB-ED0C-47B7-A294-BC2B70E3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764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74151"/>
                </a:solidFill>
              </a:defRPr>
            </a:pPr>
            <a:r>
              <a:rPr sz="1050" b="0">
                <a:solidFill>
                  <a:srgbClr val="374151"/>
                </a:solidFill>
              </a:rPr>
              <a:t>Dominio</a:t>
            </a:r>
          </a:p>
        </p:txBody>
      </p:sp>
      <p:sp>
        <p:nvSpPr>
          <p:cNvPr id="538" name="">
            <a:extLst xmlns:a="http://schemas.openxmlformats.org/drawingml/2006/main">
              <a:ext uri="{FF2B5EF4-FFF2-40B4-BE49-F238E27FC236}">
                <a16:creationId xmlns:a16="http://schemas.microsoft.com/office/drawing/2014/main" id="{4B35FFEA-5750-4A15-B7D0-AE389FB8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714500"/>
            <a:ext cx="285750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EEF2F7"/>
            </a:solidFill>
            <a:prstDash val="solid"/>
          </a:ln>
        </p:spPr>
      </p:sp>
      <p:sp>
        <p:nvSpPr>
          <p:cNvPr id="539" name="">
            <a:extLst xmlns:a="http://schemas.openxmlformats.org/drawingml/2006/main">
              <a:ext uri="{FF2B5EF4-FFF2-40B4-BE49-F238E27FC236}">
                <a16:creationId xmlns:a16="http://schemas.microsoft.com/office/drawing/2014/main" id="{97BC2465-997C-4831-8555-DF2FFBFEE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714500"/>
            <a:ext cx="285750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540" name="">
            <a:extLst xmlns:a="http://schemas.openxmlformats.org/drawingml/2006/main">
              <a:ext uri="{FF2B5EF4-FFF2-40B4-BE49-F238E27FC236}">
                <a16:creationId xmlns:a16="http://schemas.microsoft.com/office/drawing/2014/main" id="{1A4CB6ED-2826-4B2D-9002-65DF7587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6764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827"/>
                </a:solidFill>
              </a:defRPr>
            </a:pPr>
            <a:r>
              <a:rPr sz="1050" b="1">
                <a:solidFill>
                  <a:srgbClr val="111827"/>
                </a:solidFill>
              </a:rPr>
              <a:t>100%</a:t>
            </a:r>
          </a:p>
        </p:txBody>
      </p:sp>
      <p:sp>
        <p:nvSpPr>
          <p:cNvPr id="541" name="">
            <a:extLst xmlns:a="http://schemas.openxmlformats.org/drawingml/2006/main">
              <a:ext uri="{FF2B5EF4-FFF2-40B4-BE49-F238E27FC236}">
                <a16:creationId xmlns:a16="http://schemas.microsoft.com/office/drawing/2014/main" id="{2B33F321-44F6-4B90-B798-3C774DF76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24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74151"/>
                </a:solidFill>
              </a:defRPr>
            </a:pPr>
            <a:r>
              <a:rPr sz="1050" b="0">
                <a:solidFill>
                  <a:srgbClr val="374151"/>
                </a:solidFill>
              </a:rPr>
              <a:t>Aplicacion</a:t>
            </a:r>
          </a:p>
        </p:txBody>
      </p:sp>
      <p:sp>
        <p:nvSpPr>
          <p:cNvPr id="542" name="">
            <a:extLst xmlns:a="http://schemas.openxmlformats.org/drawingml/2006/main">
              <a:ext uri="{FF2B5EF4-FFF2-40B4-BE49-F238E27FC236}">
                <a16:creationId xmlns:a16="http://schemas.microsoft.com/office/drawing/2014/main" id="{159EB0EF-CC57-431F-B9BA-D732C1F18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362200"/>
            <a:ext cx="285750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EEF2F7"/>
            </a:solidFill>
            <a:prstDash val="solid"/>
          </a:ln>
        </p:spPr>
      </p:sp>
      <p:sp>
        <p:nvSpPr>
          <p:cNvPr id="543" name="">
            <a:extLst xmlns:a="http://schemas.openxmlformats.org/drawingml/2006/main">
              <a:ext uri="{FF2B5EF4-FFF2-40B4-BE49-F238E27FC236}">
                <a16:creationId xmlns:a16="http://schemas.microsoft.com/office/drawing/2014/main" id="{71BDD618-F453-4493-8793-F3F00EB0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362200"/>
            <a:ext cx="285750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544" name="">
            <a:extLst xmlns:a="http://schemas.openxmlformats.org/drawingml/2006/main">
              <a:ext uri="{FF2B5EF4-FFF2-40B4-BE49-F238E27FC236}">
                <a16:creationId xmlns:a16="http://schemas.microsoft.com/office/drawing/2014/main" id="{E8CB3E87-9C01-4360-84BE-9A800EC20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241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827"/>
                </a:solidFill>
              </a:defRPr>
            </a:pPr>
            <a:r>
              <a:rPr sz="1050" b="1">
                <a:solidFill>
                  <a:srgbClr val="111827"/>
                </a:solidFill>
              </a:rPr>
              <a:t>100%</a:t>
            </a:r>
          </a:p>
        </p:txBody>
      </p:sp>
      <p:sp>
        <p:nvSpPr>
          <p:cNvPr id="545" name="">
            <a:extLst xmlns:a="http://schemas.openxmlformats.org/drawingml/2006/main">
              <a:ext uri="{FF2B5EF4-FFF2-40B4-BE49-F238E27FC236}">
                <a16:creationId xmlns:a16="http://schemas.microsoft.com/office/drawing/2014/main" id="{AE2A4116-1D5D-4CBB-8801-5C588CAEB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9718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74151"/>
                </a:solidFill>
              </a:defRPr>
            </a:pPr>
            <a:r>
              <a:rPr sz="1050" b="0">
                <a:solidFill>
                  <a:srgbClr val="374151"/>
                </a:solidFill>
              </a:rPr>
              <a:t>YAML</a:t>
            </a:r>
          </a:p>
        </p:txBody>
      </p:sp>
      <p:sp>
        <p:nvSpPr>
          <p:cNvPr id="546" name="">
            <a:extLst xmlns:a="http://schemas.openxmlformats.org/drawingml/2006/main">
              <a:ext uri="{FF2B5EF4-FFF2-40B4-BE49-F238E27FC236}">
                <a16:creationId xmlns:a16="http://schemas.microsoft.com/office/drawing/2014/main" id="{27F31372-129A-4FB7-94A6-9A5E3A586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009900"/>
            <a:ext cx="285750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EEF2F7"/>
            </a:solidFill>
            <a:prstDash val="solid"/>
          </a:ln>
        </p:spPr>
      </p:sp>
      <p:sp>
        <p:nvSpPr>
          <p:cNvPr id="547" name="">
            <a:extLst xmlns:a="http://schemas.openxmlformats.org/drawingml/2006/main">
              <a:ext uri="{FF2B5EF4-FFF2-40B4-BE49-F238E27FC236}">
                <a16:creationId xmlns:a16="http://schemas.microsoft.com/office/drawing/2014/main" id="{CD98FA0A-4D6E-43D7-AD72-65A5ECC5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009900"/>
            <a:ext cx="285750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548" name="">
            <a:extLst xmlns:a="http://schemas.openxmlformats.org/drawingml/2006/main">
              <a:ext uri="{FF2B5EF4-FFF2-40B4-BE49-F238E27FC236}">
                <a16:creationId xmlns:a16="http://schemas.microsoft.com/office/drawing/2014/main" id="{C9EE9448-4AE2-43C2-BF1E-F37904250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9718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827"/>
                </a:solidFill>
              </a:defRPr>
            </a:pPr>
            <a:r>
              <a:rPr sz="1050" b="1">
                <a:solidFill>
                  <a:srgbClr val="111827"/>
                </a:solidFill>
              </a:rPr>
              <a:t>100%</a:t>
            </a:r>
          </a:p>
        </p:txBody>
      </p:sp>
      <p:sp>
        <p:nvSpPr>
          <p:cNvPr id="549" name="">
            <a:extLst xmlns:a="http://schemas.openxmlformats.org/drawingml/2006/main">
              <a:ext uri="{FF2B5EF4-FFF2-40B4-BE49-F238E27FC236}">
                <a16:creationId xmlns:a16="http://schemas.microsoft.com/office/drawing/2014/main" id="{95C86677-A43C-47F3-B903-8B4ACCEE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74151"/>
                </a:solidFill>
              </a:defRPr>
            </a:pPr>
            <a:r>
              <a:rPr sz="1050" b="0">
                <a:solidFill>
                  <a:srgbClr val="374151"/>
                </a:solidFill>
              </a:rPr>
              <a:t>Admin web</a:t>
            </a:r>
          </a:p>
        </p:txBody>
      </p:sp>
      <p:sp>
        <p:nvSpPr>
          <p:cNvPr id="550" name="">
            <a:extLst xmlns:a="http://schemas.openxmlformats.org/drawingml/2006/main">
              <a:ext uri="{FF2B5EF4-FFF2-40B4-BE49-F238E27FC236}">
                <a16:creationId xmlns:a16="http://schemas.microsoft.com/office/drawing/2014/main" id="{CA37423C-9041-425B-AA36-5C263399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57600"/>
            <a:ext cx="285750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EEF2F7"/>
            </a:solidFill>
            <a:prstDash val="solid"/>
          </a:ln>
        </p:spPr>
      </p:sp>
      <p:sp>
        <p:nvSpPr>
          <p:cNvPr id="551" name="">
            <a:extLst xmlns:a="http://schemas.openxmlformats.org/drawingml/2006/main">
              <a:ext uri="{FF2B5EF4-FFF2-40B4-BE49-F238E27FC236}">
                <a16:creationId xmlns:a16="http://schemas.microsoft.com/office/drawing/2014/main" id="{FF7C5427-32A5-40C2-825F-EAF934A3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57600"/>
            <a:ext cx="2657475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552" name="">
            <a:extLst xmlns:a="http://schemas.openxmlformats.org/drawingml/2006/main">
              <a:ext uri="{FF2B5EF4-FFF2-40B4-BE49-F238E27FC236}">
                <a16:creationId xmlns:a16="http://schemas.microsoft.com/office/drawing/2014/main" id="{C8D8561D-A744-4926-8FA3-9CB259B5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195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827"/>
                </a:solidFill>
              </a:defRPr>
            </a:pPr>
            <a:r>
              <a:rPr sz="1050" b="1">
                <a:solidFill>
                  <a:srgbClr val="111827"/>
                </a:solidFill>
              </a:rPr>
              <a:t>93%</a:t>
            </a:r>
          </a:p>
        </p:txBody>
      </p:sp>
      <p:sp>
        <p:nvSpPr>
          <p:cNvPr id="553" name="">
            <a:extLst xmlns:a="http://schemas.openxmlformats.org/drawingml/2006/main">
              <a:ext uri="{FF2B5EF4-FFF2-40B4-BE49-F238E27FC236}">
                <a16:creationId xmlns:a16="http://schemas.microsoft.com/office/drawing/2014/main" id="{E365C62B-1A51-467D-8345-A4549ABC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2672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74151"/>
                </a:solidFill>
              </a:defRPr>
            </a:pPr>
            <a:r>
              <a:rPr sz="1050" b="0">
                <a:solidFill>
                  <a:srgbClr val="374151"/>
                </a:solidFill>
              </a:rPr>
              <a:t>API</a:t>
            </a:r>
          </a:p>
        </p:txBody>
      </p:sp>
      <p:sp>
        <p:nvSpPr>
          <p:cNvPr id="554" name="">
            <a:extLst xmlns:a="http://schemas.openxmlformats.org/drawingml/2006/main">
              <a:ext uri="{FF2B5EF4-FFF2-40B4-BE49-F238E27FC236}">
                <a16:creationId xmlns:a16="http://schemas.microsoft.com/office/drawing/2014/main" id="{93B9F399-01CD-4F49-8C9C-6671E720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305300"/>
            <a:ext cx="285750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EEF2F7"/>
            </a:solidFill>
            <a:prstDash val="solid"/>
          </a:ln>
        </p:spPr>
      </p:sp>
      <p:sp>
        <p:nvSpPr>
          <p:cNvPr id="555" name="">
            <a:extLst xmlns:a="http://schemas.openxmlformats.org/drawingml/2006/main">
              <a:ext uri="{FF2B5EF4-FFF2-40B4-BE49-F238E27FC236}">
                <a16:creationId xmlns:a16="http://schemas.microsoft.com/office/drawing/2014/main" id="{B48203F5-3439-453D-831C-1C9826E5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305300"/>
            <a:ext cx="1890808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556" name="">
            <a:extLst xmlns:a="http://schemas.openxmlformats.org/drawingml/2006/main">
              <a:ext uri="{FF2B5EF4-FFF2-40B4-BE49-F238E27FC236}">
                <a16:creationId xmlns:a16="http://schemas.microsoft.com/office/drawing/2014/main" id="{B2A606F6-C038-4BB9-AF6D-1FEBE97F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2672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827"/>
                </a:solidFill>
              </a:defRPr>
            </a:pPr>
            <a:r>
              <a:rPr sz="1050" b="1">
                <a:solidFill>
                  <a:srgbClr val="111827"/>
                </a:solidFill>
              </a:rPr>
              <a:t>66.17%</a:t>
            </a:r>
          </a:p>
        </p:txBody>
      </p:sp>
      <p:sp>
        <p:nvSpPr>
          <p:cNvPr id="557" name="">
            <a:extLst xmlns:a="http://schemas.openxmlformats.org/drawingml/2006/main">
              <a:ext uri="{FF2B5EF4-FFF2-40B4-BE49-F238E27FC236}">
                <a16:creationId xmlns:a16="http://schemas.microsoft.com/office/drawing/2014/main" id="{AA23A2F8-65C0-44F3-92BC-81428288E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9149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74151"/>
                </a:solidFill>
              </a:defRPr>
            </a:pPr>
            <a:r>
              <a:rPr sz="1050" b="0">
                <a:solidFill>
                  <a:srgbClr val="374151"/>
                </a:solidFill>
              </a:rPr>
              <a:t>Demo web</a:t>
            </a:r>
          </a:p>
        </p:txBody>
      </p:sp>
      <p:sp>
        <p:nvSpPr>
          <p:cNvPr id="558" name="">
            <a:extLst xmlns:a="http://schemas.openxmlformats.org/drawingml/2006/main">
              <a:ext uri="{FF2B5EF4-FFF2-40B4-BE49-F238E27FC236}">
                <a16:creationId xmlns:a16="http://schemas.microsoft.com/office/drawing/2014/main" id="{D2B6E997-E11D-4812-B5FB-DADB046E4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953000"/>
            <a:ext cx="285750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EEF2F7"/>
            </a:solidFill>
            <a:prstDash val="solid"/>
          </a:ln>
        </p:spPr>
      </p:sp>
      <p:sp>
        <p:nvSpPr>
          <p:cNvPr id="559" name="">
            <a:extLst xmlns:a="http://schemas.openxmlformats.org/drawingml/2006/main">
              <a:ext uri="{FF2B5EF4-FFF2-40B4-BE49-F238E27FC236}">
                <a16:creationId xmlns:a16="http://schemas.microsoft.com/office/drawing/2014/main" id="{B6AF7E99-29D1-4742-A7C8-EF73FAF0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953000"/>
            <a:ext cx="2050542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560" name="">
            <a:extLst xmlns:a="http://schemas.openxmlformats.org/drawingml/2006/main">
              <a:ext uri="{FF2B5EF4-FFF2-40B4-BE49-F238E27FC236}">
                <a16:creationId xmlns:a16="http://schemas.microsoft.com/office/drawing/2014/main" id="{78BB044A-7659-4069-9BE7-227E9892A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914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827"/>
                </a:solidFill>
              </a:defRPr>
            </a:pPr>
            <a:r>
              <a:rPr sz="1050" b="1">
                <a:solidFill>
                  <a:srgbClr val="111827"/>
                </a:solidFill>
              </a:rPr>
              <a:t>71.76%</a:t>
            </a:r>
          </a:p>
        </p:txBody>
      </p:sp>
    </p:spTree>
    <p:extLst>
      <p:ext uri="{BB962C8B-B14F-4D97-AF65-F5344CB8AC3E}">
        <p14:creationId xmlns:p14="http://schemas.microsoft.com/office/powerpoint/2010/main" val="314597529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3AC3A10F-8642-8154-9AEA-7110D289C62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OKVNS TFM</a:t>
            </a:r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BBF0163-E4B1-61D1-776D-45470B16F0F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</a:p>
        </p:txBody>
      </p:sp>
      <p:sp>
        <p:nvSpPr>
          <p:cNvPr id="11" name="Title 10">
            <a:extLst xmlns:a="http://schemas.openxmlformats.org/drawingml/2006/main">
              <a:ext uri="{FF2B5EF4-FFF2-40B4-BE49-F238E27FC236}">
                <a16:creationId xmlns:a16="http://schemas.microsoft.com/office/drawing/2014/main" id="{9759E2FE-9F02-E1B4-EBBC-AA8624ACC3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despliegue evoluciona desde desarrollo local hasta Kubernetes reproducible</a:t>
            </a:r>
          </a:p>
        </p:txBody>
      </p:sp>
      <p:cxnSp>
        <p:nvCxnSpPr>
          <p:cNvPr id="27" name="Google Shape;2259;p159"/>
          <p:cNvCxnSpPr>
            <a:stCxn xmlns:a="http://schemas.openxmlformats.org/drawingml/2006/main" id="3" idx="2"/>
          </p:cNvCxnSpPr>
          <p:nvPr/>
        </p:nvCxnSpPr>
        <p:spPr>
          <a:xfrm xmlns:a="http://schemas.openxmlformats.org/drawingml/2006/main">
            <a:off x="337718" y="3373753"/>
            <a:ext cx="12245400" cy="3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Google Shape;2260;p159">
            <a:extLst xmlns:a="http://schemas.openxmlformats.org/drawingml/2006/main">
              <a:ext uri="{FF2B5EF4-FFF2-40B4-BE49-F238E27FC236}">
                <a16:creationId xmlns:a16="http://schemas.microsoft.com/office/drawing/2014/main" id="{39A86B1D-EA5D-3FA6-7D83-8F21D70E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18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" name="Google Shape;2261;p159">
            <a:extLst xmlns:a="http://schemas.openxmlformats.org/drawingml/2006/main">
              <a:ext uri="{FF2B5EF4-FFF2-40B4-BE49-F238E27FC236}">
                <a16:creationId xmlns:a16="http://schemas.microsoft.com/office/drawing/2014/main" id="{A1013DAF-A2C3-BC42-73D5-9D8AB55D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50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Google Shape;2262;p159">
            <a:extLst xmlns:a="http://schemas.openxmlformats.org/drawingml/2006/main">
              <a:ext uri="{FF2B5EF4-FFF2-40B4-BE49-F238E27FC236}">
                <a16:creationId xmlns:a16="http://schemas.microsoft.com/office/drawing/2014/main" id="{4654A74A-2C40-A8C6-E9F9-43C58A3A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50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76C75857-E8EA-1B37-0464-3C7048D7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843266"/>
            <a:ext cx="1612900" cy="2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latin typeface="Helvetica Neue"/>
                <a:ea typeface="Helvetica Neue"/>
                <a:cs typeface="Helvetica Neue"/>
              </a:rPr>
              <a:t>Local</a:t>
            </a:r>
          </a:p>
        </p:txBody>
      </p:sp>
      <p:sp>
        <p:nvSpPr>
          <p:cNvPr id="13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76AEECBA-C292-6302-8A8E-7EB14A54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87" y="2843266"/>
            <a:ext cx="1612900" cy="2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latin typeface="Helvetica Neue"/>
                <a:ea typeface="Helvetica Neue"/>
                <a:cs typeface="Helvetica Neue"/>
              </a:rPr>
              <a:t>Contenedores</a:t>
            </a:r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95982BB0-2387-9BAA-9F14-F45500C0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49" y="2843266"/>
            <a:ext cx="1612900" cy="2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latin typeface="Helvetica Neue"/>
                <a:ea typeface="Helvetica Neue"/>
                <a:cs typeface="Helvetica Neue"/>
              </a:rPr>
              <a:t>Cluster</a:t>
            </a:r>
          </a:p>
        </p:txBody>
      </p:sp>
      <p:sp>
        <p:nvSpPr>
          <p:cNvPr id="8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D0EE3B6B-F07C-271E-2F97-41D7686F1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8" y="3822700"/>
            <a:ext cx="3156125" cy="158625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Imagenes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API y frontend se construyen como servicios stateless configurables.</a:t>
            </a:r>
          </a:p>
        </p:txBody>
      </p:sp>
      <p:sp>
        <p:nvSpPr>
          <p:cNvPr id="15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B3EA0E10-C778-6971-AFB5-9B9B52B0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73" y="3822700"/>
            <a:ext cx="3156125" cy="158625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Docker Compose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Levanta MySQL, migraciones, API y admin web con un comando.</a:t>
            </a:r>
          </a:p>
        </p:txBody>
      </p:sp>
      <p:sp>
        <p:nvSpPr>
          <p:cNvPr id="19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5A9F39A9-7A23-0F85-F761-1AB9FA6B8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917" y="3822700"/>
            <a:ext cx="3156125" cy="158625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Kubernetes + Helm</a:t>
            </a:r>
          </a:p>
          <a:p xmlns:a="http://schemas.openxmlformats.org/drawingml/2006/main">
            <a:pPr marL="0" indent="0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Manifiestos y chart con Secrets, ConfigMaps, probes y PVC MySQL.</a:t>
            </a:r>
          </a:p>
        </p:txBody>
      </p:sp>
    </p:spTree>
    <p:extLst>
      <p:ext uri="{BB962C8B-B14F-4D97-AF65-F5344CB8AC3E}">
        <p14:creationId xmlns:p14="http://schemas.microsoft.com/office/powerpoint/2010/main" val="344633891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979AC8B6-148F-970D-D8DE-AD2E0AB19BC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738755"/>
            <a:ext cx="9448800" cy="249149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7200"/>
              <a:t>OKVNS demuestra una plataforma completa, no solo una prueba tecnica</a:t>
            </a:r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A8E1F2E1-786A-48AE-5E52-00722828427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973320"/>
            <a:ext cx="3568700" cy="108024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000"/>
              <a:t>Arquitectura limpia</a:t>
            </a:r>
          </a:p>
          <a:p xmlns:a="http://schemas.openxmlformats.org/drawingml/2006/main">
            <a:r>
              <a:rPr sz="2000"/>
              <a:t>Contratos documentados</a:t>
            </a:r>
          </a:p>
          <a:p xmlns:a="http://schemas.openxmlformats.org/drawingml/2006/main">
            <a:r>
              <a:rPr sz="2000"/>
              <a:t>Persistencia y despliegue reproducibles</a:t>
            </a:r>
          </a:p>
        </p:txBody>
      </p:sp>
      <p:sp>
        <p:nvSpPr>
          <p:cNvPr id="6" name="Subtitle 4">
            <a:extLst xmlns:a="http://schemas.openxmlformats.org/drawingml/2006/main">
              <a:ext uri="{FF2B5EF4-FFF2-40B4-BE49-F238E27FC236}">
                <a16:creationId xmlns:a16="http://schemas.microsoft.com/office/drawing/2014/main" id="{A94AB779-D110-4562-575A-800C929A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392241"/>
            <a:ext cx="1612900" cy="6491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sz="1800"/>
              <a:t>Sintesis</a:t>
            </a:r>
          </a:p>
        </p:txBody>
      </p:sp>
    </p:spTree>
    <p:extLst>
      <p:ext uri="{BB962C8B-B14F-4D97-AF65-F5344CB8AC3E}">
        <p14:creationId xmlns:p14="http://schemas.microsoft.com/office/powerpoint/2010/main" val="3653678558"/>
      </p:ext>
    </p:extLst>
  </p:cSld>
</p:sld>
</file>

<file path=ppt/theme/theme1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2026-07-16T22:51:51.2900000Z</dcterms:created>
  <dcterms:modified xsi:type="dcterms:W3CDTF">2026-07-16T22:51:51.2900000Z</dcterms:modified>
</coreProperties>
</file>