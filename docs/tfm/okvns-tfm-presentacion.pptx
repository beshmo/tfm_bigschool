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</p:sldIdLst>
  <p:sldSz cx="12192000" cy="6858000"/>
  <p:notesSz cx="7104063" cy="10234613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69599" autoAdjust="0"/>
  </p:normalViewPr>
  <p:slideViewPr>
    <p:cSldViewPr snapToGrid="0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es-E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es-E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18-4B7E-924E-E610BAEB8B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18-4B7E-924E-E610BAEB8B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es-E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es-E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Hola, en este video voy a presentar mi Trabajo Fin de Master: OKVNS,</a:t>
            </a:r>
          </a:p>
          <a:p>
            <a:r>
              <a:rPr lang="es-ES" sz="1200" b="0" kern="1200" dirty="0" err="1">
                <a:effectLst/>
              </a:rPr>
              <a:t>Organized</a:t>
            </a:r>
            <a:r>
              <a:rPr lang="es-ES" sz="1200" b="0" kern="1200" dirty="0">
                <a:effectLst/>
              </a:rPr>
              <a:t> Key-</a:t>
            </a:r>
            <a:r>
              <a:rPr lang="es-ES" sz="1200" b="0" kern="1200" dirty="0" err="1">
                <a:effectLst/>
              </a:rPr>
              <a:t>Value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NamespaceS</a:t>
            </a:r>
            <a:r>
              <a:rPr lang="es-ES" sz="1200" b="0" kern="1200" dirty="0">
                <a:effectLst/>
              </a:rPr>
              <a:t>.</a:t>
            </a:r>
          </a:p>
          <a:p>
            <a:r>
              <a:rPr lang="es-ES" sz="1200" b="0" kern="1200" dirty="0">
                <a:effectLst/>
              </a:rPr>
              <a:t>OKVNS es un proyecto </a:t>
            </a:r>
            <a:r>
              <a:rPr lang="es-ES" sz="1200" b="0" kern="1200" dirty="0" err="1">
                <a:effectLst/>
              </a:rPr>
              <a:t>opensource</a:t>
            </a:r>
            <a:r>
              <a:rPr lang="es-ES" sz="1200" b="0" kern="1200" dirty="0">
                <a:effectLst/>
              </a:rPr>
              <a:t> para gestionar </a:t>
            </a:r>
            <a:r>
              <a:rPr lang="es-ES" sz="1200" b="0" kern="1200" dirty="0" err="1">
                <a:effectLst/>
              </a:rPr>
              <a:t>configuracion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key-value</a:t>
            </a:r>
            <a:r>
              <a:rPr lang="es-ES" sz="1200" b="0" kern="1200" dirty="0">
                <a:effectLst/>
              </a:rPr>
              <a:t> en tiempo de</a:t>
            </a:r>
          </a:p>
          <a:p>
            <a:r>
              <a:rPr lang="es-ES" sz="1200" b="0" kern="1200" dirty="0" err="1">
                <a:effectLst/>
              </a:rPr>
              <a:t>ejecucion</a:t>
            </a:r>
            <a:r>
              <a:rPr lang="es-ES" sz="1200" b="0" kern="1200" dirty="0">
                <a:effectLst/>
              </a:rPr>
              <a:t>. La idea es que aplicaciones y servicios puedan consultar valores de</a:t>
            </a:r>
          </a:p>
          <a:p>
            <a:r>
              <a:rPr lang="es-ES" sz="1200" b="0" kern="1200" dirty="0" err="1">
                <a:effectLst/>
              </a:rPr>
              <a:t>configuracion</a:t>
            </a:r>
            <a:r>
              <a:rPr lang="es-ES" sz="1200" b="0" kern="1200" dirty="0">
                <a:effectLst/>
              </a:rPr>
              <a:t> centralizados sin tener que redesplegar cada vez que cambia un</a:t>
            </a:r>
          </a:p>
          <a:p>
            <a:r>
              <a:rPr lang="es-ES" sz="1200" b="0" kern="1200" dirty="0" err="1">
                <a:effectLst/>
              </a:rPr>
              <a:t>endpoint</a:t>
            </a:r>
            <a:r>
              <a:rPr lang="es-ES" sz="1200" b="0" kern="1200" dirty="0">
                <a:effectLst/>
              </a:rPr>
              <a:t>, una bandera funcional, un texto configurable o un </a:t>
            </a:r>
            <a:r>
              <a:rPr lang="es-ES" sz="1200" b="0" kern="1200" dirty="0" err="1">
                <a:effectLst/>
              </a:rPr>
              <a:t>parametro</a:t>
            </a:r>
            <a:r>
              <a:rPr lang="es-ES" sz="1200" b="0" kern="1200" dirty="0">
                <a:effectLst/>
              </a:rPr>
              <a:t> operativo.</a:t>
            </a:r>
          </a:p>
          <a:p>
            <a:r>
              <a:rPr lang="es-ES" sz="1200" b="0" kern="1200" dirty="0">
                <a:effectLst/>
              </a:rPr>
              <a:t>El proyecto cubre una </a:t>
            </a:r>
            <a:r>
              <a:rPr lang="es-ES" sz="1200" b="0" kern="1200" dirty="0" err="1">
                <a:effectLst/>
              </a:rPr>
              <a:t>solucion</a:t>
            </a:r>
            <a:r>
              <a:rPr lang="es-ES" sz="1200" b="0" kern="1200" dirty="0">
                <a:effectLst/>
              </a:rPr>
              <a:t> completa: API REST, interfaz web de</a:t>
            </a:r>
          </a:p>
          <a:p>
            <a:r>
              <a:rPr lang="es-ES" sz="1200" b="0" kern="1200" dirty="0" err="1">
                <a:effectLst/>
              </a:rPr>
              <a:t>administracion</a:t>
            </a:r>
            <a:r>
              <a:rPr lang="es-ES" sz="1200" b="0" kern="1200" dirty="0">
                <a:effectLst/>
              </a:rPr>
              <a:t>, </a:t>
            </a:r>
            <a:r>
              <a:rPr lang="es-ES" sz="1200" b="0" kern="1200" dirty="0" err="1">
                <a:effectLst/>
              </a:rPr>
              <a:t>importacion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exportacion</a:t>
            </a:r>
            <a:r>
              <a:rPr lang="es-ES" sz="1200" b="0" kern="1200" dirty="0">
                <a:effectLst/>
              </a:rPr>
              <a:t> YAML, persistencia en MySQL,</a:t>
            </a:r>
          </a:p>
          <a:p>
            <a:r>
              <a:rPr lang="es-ES" sz="1200" b="0" kern="1200" dirty="0" err="1">
                <a:effectLst/>
              </a:rPr>
              <a:t>documentacion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OpenAPI</a:t>
            </a:r>
            <a:r>
              <a:rPr lang="es-ES" sz="1200" b="0" kern="1200" dirty="0">
                <a:effectLst/>
              </a:rPr>
              <a:t> y despliegue </a:t>
            </a:r>
            <a:r>
              <a:rPr lang="es-ES" sz="1200" b="0" kern="1200" dirty="0" err="1">
                <a:effectLst/>
              </a:rPr>
              <a:t>cloud</a:t>
            </a:r>
            <a:r>
              <a:rPr lang="es-ES" sz="1200" b="0" kern="1200" dirty="0">
                <a:effectLst/>
              </a:rPr>
              <a:t>-native.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La </a:t>
            </a:r>
            <a:r>
              <a:rPr lang="es-ES" sz="1200" b="0" kern="1200" dirty="0" err="1">
                <a:effectLst/>
              </a:rPr>
              <a:t>presentacion</a:t>
            </a:r>
            <a:r>
              <a:rPr lang="es-ES" sz="1200" b="0" kern="1200" dirty="0">
                <a:effectLst/>
              </a:rPr>
              <a:t> sigue el recorrido de una plataforma completa. Primero explico</a:t>
            </a:r>
          </a:p>
          <a:p>
            <a:r>
              <a:rPr lang="es-ES" sz="1200" b="0" kern="1200" dirty="0">
                <a:effectLst/>
              </a:rPr>
              <a:t>el problema y el objetivo del proyecto. </a:t>
            </a:r>
            <a:r>
              <a:rPr lang="es-ES" sz="1200" b="0" kern="1200" dirty="0" err="1">
                <a:effectLst/>
              </a:rPr>
              <a:t>Despues</a:t>
            </a:r>
            <a:r>
              <a:rPr lang="es-ES" sz="1200" b="0" kern="1200" dirty="0">
                <a:effectLst/>
              </a:rPr>
              <a:t> paso por la arquitectura, los</a:t>
            </a:r>
          </a:p>
          <a:p>
            <a:r>
              <a:rPr lang="es-ES" sz="1200" b="0" kern="1200" dirty="0">
                <a:effectLst/>
              </a:rPr>
              <a:t>componentes y el </a:t>
            </a:r>
            <a:r>
              <a:rPr lang="es-ES" sz="1200" b="0" kern="1200" dirty="0" err="1">
                <a:effectLst/>
              </a:rPr>
              <a:t>stack</a:t>
            </a:r>
            <a:r>
              <a:rPr lang="es-ES" sz="1200" b="0" kern="1200" dirty="0">
                <a:effectLst/>
              </a:rPr>
              <a:t>. A </a:t>
            </a:r>
            <a:r>
              <a:rPr lang="es-ES" sz="1200" b="0" kern="1200" dirty="0" err="1">
                <a:effectLst/>
              </a:rPr>
              <a:t>continuacion</a:t>
            </a:r>
            <a:r>
              <a:rPr lang="es-ES" sz="1200" b="0" kern="1200" dirty="0">
                <a:effectLst/>
              </a:rPr>
              <a:t> enseño las funcionalidades principales,</a:t>
            </a:r>
          </a:p>
          <a:p>
            <a:r>
              <a:rPr lang="es-ES" sz="1200" b="0" kern="1200" dirty="0">
                <a:effectLst/>
              </a:rPr>
              <a:t>con especial </a:t>
            </a:r>
            <a:r>
              <a:rPr lang="es-ES" sz="1200" b="0" kern="1200" dirty="0" err="1">
                <a:effectLst/>
              </a:rPr>
              <a:t>atencion</a:t>
            </a:r>
            <a:r>
              <a:rPr lang="es-ES" sz="1200" b="0" kern="1200" dirty="0">
                <a:effectLst/>
              </a:rPr>
              <a:t> al contrato YAML, que es una parte importante del sistema.</a:t>
            </a:r>
          </a:p>
          <a:p>
            <a:r>
              <a:rPr lang="es-ES" sz="1200" b="0" kern="1200" dirty="0" err="1">
                <a:effectLst/>
              </a:rPr>
              <a:t>Despues</a:t>
            </a:r>
            <a:r>
              <a:rPr lang="es-ES" sz="1200" b="0" kern="1200" dirty="0">
                <a:effectLst/>
              </a:rPr>
              <a:t> resumo como </a:t>
            </a:r>
            <a:r>
              <a:rPr lang="es-ES" sz="1200" b="0" kern="1200" dirty="0" err="1">
                <a:effectLst/>
              </a:rPr>
              <a:t>OpenSpec</a:t>
            </a:r>
            <a:r>
              <a:rPr lang="es-ES" sz="1200" b="0" kern="1200" dirty="0">
                <a:effectLst/>
              </a:rPr>
              <a:t> y los </a:t>
            </a:r>
            <a:r>
              <a:rPr lang="es-ES" sz="1200" b="0" kern="1200" dirty="0" err="1">
                <a:effectLst/>
              </a:rPr>
              <a:t>ADRs</a:t>
            </a:r>
            <a:r>
              <a:rPr lang="es-ES" sz="1200" b="0" kern="1200" dirty="0">
                <a:effectLst/>
              </a:rPr>
              <a:t> dejan trazabilidad </a:t>
            </a:r>
            <a:r>
              <a:rPr lang="es-ES" sz="1200" b="0" kern="1200" dirty="0" err="1">
                <a:effectLst/>
              </a:rPr>
              <a:t>tecnica</a:t>
            </a:r>
            <a:r>
              <a:rPr lang="es-ES" sz="1200" b="0" kern="1200" dirty="0">
                <a:effectLst/>
              </a:rPr>
              <a:t> de las</a:t>
            </a:r>
          </a:p>
          <a:p>
            <a:r>
              <a:rPr lang="es-ES" sz="1200" b="0" kern="1200" dirty="0">
                <a:effectLst/>
              </a:rPr>
              <a:t>decisiones. Finalmente cierro con pruebas, cobertura, despliegue y una demo de</a:t>
            </a:r>
          </a:p>
          <a:p>
            <a:r>
              <a:rPr lang="es-ES" sz="1200" b="0" kern="1200" dirty="0">
                <a:effectLst/>
              </a:rPr>
              <a:t>la </a:t>
            </a:r>
            <a:r>
              <a:rPr lang="es-ES" sz="1200" b="0" kern="1200" dirty="0" err="1">
                <a:effectLst/>
              </a:rPr>
              <a:t>aplicacion</a:t>
            </a:r>
            <a:r>
              <a:rPr lang="es-ES" sz="1200" b="0" kern="1200" dirty="0">
                <a:effectLst/>
              </a:rPr>
              <a:t> y de la API publicadas.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OKVNS esta separado por responsabilidades. En el centro </a:t>
            </a:r>
            <a:r>
              <a:rPr lang="es-ES" sz="1200" b="0" kern="1200" dirty="0" err="1">
                <a:effectLst/>
              </a:rPr>
              <a:t>estan</a:t>
            </a:r>
            <a:r>
              <a:rPr lang="es-ES" sz="1200" b="0" kern="1200" dirty="0">
                <a:effectLst/>
              </a:rPr>
              <a:t> el dominio y los</a:t>
            </a:r>
          </a:p>
          <a:p>
            <a:r>
              <a:rPr lang="es-ES" sz="1200" b="0" kern="1200" dirty="0">
                <a:effectLst/>
              </a:rPr>
              <a:t>casos de uso: </a:t>
            </a:r>
            <a:r>
              <a:rPr lang="es-ES" sz="1200" b="0" kern="1200" dirty="0" err="1">
                <a:effectLst/>
              </a:rPr>
              <a:t>ahi</a:t>
            </a:r>
            <a:r>
              <a:rPr lang="es-ES" sz="1200" b="0" kern="1200" dirty="0">
                <a:effectLst/>
              </a:rPr>
              <a:t> viven las reglas sobre </a:t>
            </a:r>
            <a:r>
              <a:rPr lang="es-ES" sz="1200" b="0" kern="1200" dirty="0" err="1">
                <a:effectLst/>
              </a:rPr>
              <a:t>namespaces</a:t>
            </a:r>
            <a:r>
              <a:rPr lang="es-ES" sz="1200" b="0" kern="1200" dirty="0">
                <a:effectLst/>
              </a:rPr>
              <a:t>, </a:t>
            </a:r>
            <a:r>
              <a:rPr lang="es-ES" sz="1200" b="0" kern="1200" dirty="0" err="1">
                <a:effectLst/>
              </a:rPr>
              <a:t>entries</a:t>
            </a:r>
            <a:r>
              <a:rPr lang="es-ES" sz="1200" b="0" kern="1200" dirty="0">
                <a:effectLst/>
              </a:rPr>
              <a:t>, </a:t>
            </a:r>
            <a:r>
              <a:rPr lang="es-ES" sz="1200" b="0" kern="1200" dirty="0" err="1">
                <a:effectLst/>
              </a:rPr>
              <a:t>validacion</a:t>
            </a:r>
            <a:r>
              <a:rPr lang="es-ES" sz="1200" b="0" kern="1200" dirty="0">
                <a:effectLst/>
              </a:rPr>
              <a:t>,</a:t>
            </a:r>
          </a:p>
          <a:p>
            <a:r>
              <a:rPr lang="es-ES" sz="1200" b="0" kern="1200" dirty="0">
                <a:effectLst/>
              </a:rPr>
              <a:t>errores de negocio e invariantes.</a:t>
            </a:r>
          </a:p>
          <a:p>
            <a:r>
              <a:rPr lang="es-ES" sz="1200" b="0" kern="1200" dirty="0">
                <a:effectLst/>
              </a:rPr>
              <a:t>La API </a:t>
            </a:r>
            <a:r>
              <a:rPr lang="es-ES" sz="1200" b="0" kern="1200" dirty="0" err="1">
                <a:effectLst/>
              </a:rPr>
              <a:t>NestJS</a:t>
            </a:r>
            <a:r>
              <a:rPr lang="es-ES" sz="1200" b="0" kern="1200" dirty="0">
                <a:effectLst/>
              </a:rPr>
              <a:t> y la </a:t>
            </a:r>
            <a:r>
              <a:rPr lang="es-ES" sz="1200" b="0" kern="1200" dirty="0" err="1">
                <a:effectLst/>
              </a:rPr>
              <a:t>aplicacion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React</a:t>
            </a:r>
            <a:r>
              <a:rPr lang="es-ES" sz="1200" b="0" kern="1200" dirty="0">
                <a:effectLst/>
              </a:rPr>
              <a:t> son capas de </a:t>
            </a:r>
            <a:r>
              <a:rPr lang="es-ES" sz="1200" b="0" kern="1200" dirty="0" err="1">
                <a:effectLst/>
              </a:rPr>
              <a:t>presentacion</a:t>
            </a:r>
            <a:r>
              <a:rPr lang="es-ES" sz="1200" b="0" kern="1200" dirty="0">
                <a:effectLst/>
              </a:rPr>
              <a:t>. Traducen</a:t>
            </a:r>
          </a:p>
          <a:p>
            <a:r>
              <a:rPr lang="es-ES" sz="1200" b="0" kern="1200" dirty="0">
                <a:effectLst/>
              </a:rPr>
              <a:t>peticiones HTTP o acciones de usuario a casos de uso, pero no contienen las</a:t>
            </a:r>
          </a:p>
          <a:p>
            <a:r>
              <a:rPr lang="es-ES" sz="1200" b="0" kern="1200" dirty="0">
                <a:effectLst/>
              </a:rPr>
              <a:t>reglas principales.</a:t>
            </a:r>
          </a:p>
          <a:p>
            <a:r>
              <a:rPr lang="es-ES" sz="1200" b="0" kern="1200" dirty="0">
                <a:effectLst/>
              </a:rPr>
              <a:t>La persistencia esta en infraestructura. El </a:t>
            </a:r>
            <a:r>
              <a:rPr lang="es-ES" sz="1200" b="0" kern="1200" dirty="0" err="1">
                <a:effectLst/>
              </a:rPr>
              <a:t>backend</a:t>
            </a:r>
            <a:r>
              <a:rPr lang="es-ES" sz="1200" b="0" kern="1200" dirty="0">
                <a:effectLst/>
              </a:rPr>
              <a:t> por defecto es MySQL, con</a:t>
            </a:r>
          </a:p>
          <a:p>
            <a:r>
              <a:rPr lang="es-ES" sz="1200" b="0" kern="1200" dirty="0">
                <a:effectLst/>
              </a:rPr>
              <a:t>tablas para </a:t>
            </a:r>
            <a:r>
              <a:rPr lang="es-ES" sz="1200" b="0" kern="1200" dirty="0" err="1">
                <a:effectLst/>
              </a:rPr>
              <a:t>namespaces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entries</a:t>
            </a:r>
            <a:r>
              <a:rPr lang="es-ES" sz="1200" b="0" kern="1200" dirty="0">
                <a:effectLst/>
              </a:rPr>
              <a:t>, restricciones de unicidad y transacciones para</a:t>
            </a:r>
          </a:p>
          <a:p>
            <a:r>
              <a:rPr lang="es-ES" sz="1200" b="0" kern="1200" dirty="0">
                <a:effectLst/>
              </a:rPr>
              <a:t>operaciones compuestas como importaciones </a:t>
            </a:r>
            <a:r>
              <a:rPr lang="es-ES" sz="1200" b="0" kern="1200" dirty="0" err="1">
                <a:effectLst/>
              </a:rPr>
              <a:t>multi-namespace</a:t>
            </a:r>
            <a:r>
              <a:rPr lang="es-ES" sz="1200" b="0" kern="1200" dirty="0">
                <a:effectLst/>
              </a:rPr>
              <a:t> o renombrados.</a:t>
            </a:r>
          </a:p>
          <a:p>
            <a:r>
              <a:rPr lang="es-ES" sz="1200" b="0" kern="1200" dirty="0">
                <a:effectLst/>
              </a:rPr>
              <a:t>Esta </a:t>
            </a:r>
            <a:r>
              <a:rPr lang="es-ES" sz="1200" b="0" kern="1200" dirty="0" err="1">
                <a:effectLst/>
              </a:rPr>
              <a:t>separacion</a:t>
            </a:r>
            <a:r>
              <a:rPr lang="es-ES" sz="1200" b="0" kern="1200" dirty="0">
                <a:effectLst/>
              </a:rPr>
              <a:t> es importante porque el dominio no depende de </a:t>
            </a:r>
            <a:r>
              <a:rPr lang="es-ES" sz="1200" b="0" kern="1200" dirty="0" err="1">
                <a:effectLst/>
              </a:rPr>
              <a:t>NestJS</a:t>
            </a:r>
            <a:r>
              <a:rPr lang="es-ES" sz="1200" b="0" kern="1200" dirty="0">
                <a:effectLst/>
              </a:rPr>
              <a:t>, </a:t>
            </a:r>
            <a:r>
              <a:rPr lang="es-ES" sz="1200" b="0" kern="1200" dirty="0" err="1">
                <a:effectLst/>
              </a:rPr>
              <a:t>React</a:t>
            </a:r>
            <a:r>
              <a:rPr lang="es-ES" sz="1200" b="0" kern="1200" dirty="0">
                <a:effectLst/>
              </a:rPr>
              <a:t>,</a:t>
            </a:r>
          </a:p>
          <a:p>
            <a:r>
              <a:rPr lang="es-ES" sz="1200" b="0" kern="1200" dirty="0">
                <a:effectLst/>
              </a:rPr>
              <a:t>MySQL ni del navegador. Eso facilita probar reglas de negocio de forma </a:t>
            </a:r>
            <a:r>
              <a:rPr lang="es-ES" sz="1200" b="0" kern="1200" dirty="0" err="1">
                <a:effectLst/>
              </a:rPr>
              <a:t>rapida</a:t>
            </a:r>
            <a:r>
              <a:rPr lang="es-ES" sz="1200" b="0" kern="1200" dirty="0">
                <a:effectLst/>
              </a:rPr>
              <a:t> y</a:t>
            </a:r>
          </a:p>
          <a:p>
            <a:r>
              <a:rPr lang="es-ES" sz="1200" b="0" kern="1200" dirty="0">
                <a:effectLst/>
              </a:rPr>
              <a:t>mantener el proyecto preparado para cambiar adaptadores sin reescribir el </a:t>
            </a:r>
            <a:r>
              <a:rPr lang="es-ES" sz="1200" b="0" kern="1200" dirty="0" err="1">
                <a:effectLst/>
              </a:rPr>
              <a:t>nucleo</a:t>
            </a:r>
            <a:r>
              <a:rPr lang="es-ES" sz="1200" b="0" kern="1200" dirty="0">
                <a:effectLst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El proyecto esta organizado como </a:t>
            </a:r>
            <a:r>
              <a:rPr lang="es-ES" sz="1200" b="0" kern="1200" dirty="0" err="1">
                <a:effectLst/>
              </a:rPr>
              <a:t>monorepo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TypeScript</a:t>
            </a:r>
            <a:r>
              <a:rPr lang="es-ES" sz="1200" b="0" kern="1200" dirty="0">
                <a:effectLst/>
              </a:rPr>
              <a:t> con </a:t>
            </a:r>
            <a:r>
              <a:rPr lang="es-ES" sz="1200" b="0" kern="1200" dirty="0" err="1">
                <a:effectLst/>
              </a:rPr>
              <a:t>pnpm</a:t>
            </a:r>
            <a:r>
              <a:rPr lang="es-ES" sz="1200" b="0" kern="1200" dirty="0">
                <a:effectLst/>
              </a:rPr>
              <a:t>. Esa </a:t>
            </a:r>
            <a:r>
              <a:rPr lang="es-ES" sz="1200" b="0" kern="1200" dirty="0" err="1">
                <a:effectLst/>
              </a:rPr>
              <a:t>decision</a:t>
            </a:r>
            <a:endParaRPr lang="es-ES" sz="1200" b="0" kern="1200" dirty="0">
              <a:effectLst/>
            </a:endParaRPr>
          </a:p>
          <a:p>
            <a:r>
              <a:rPr lang="es-ES" sz="1200" b="0" kern="1200" dirty="0">
                <a:effectLst/>
              </a:rPr>
              <a:t>permite compartir contratos y utilidades entre API, </a:t>
            </a:r>
            <a:r>
              <a:rPr lang="es-ES" sz="1200" b="0" kern="1200" dirty="0" err="1">
                <a:effectLst/>
              </a:rPr>
              <a:t>frontend</a:t>
            </a:r>
            <a:r>
              <a:rPr lang="es-ES" sz="1200" b="0" kern="1200" dirty="0">
                <a:effectLst/>
              </a:rPr>
              <a:t> y paquetes internos.</a:t>
            </a:r>
          </a:p>
          <a:p>
            <a:r>
              <a:rPr lang="es-ES" sz="1200" b="0" kern="1200" dirty="0">
                <a:effectLst/>
              </a:rPr>
              <a:t>En </a:t>
            </a:r>
            <a:r>
              <a:rPr lang="es-ES" sz="1200" b="0" kern="1200" dirty="0" err="1">
                <a:effectLst/>
              </a:rPr>
              <a:t>backend</a:t>
            </a:r>
            <a:r>
              <a:rPr lang="es-ES" sz="1200" b="0" kern="1200" dirty="0">
                <a:effectLst/>
              </a:rPr>
              <a:t> se usa </a:t>
            </a:r>
            <a:r>
              <a:rPr lang="es-ES" sz="1200" b="0" kern="1200" dirty="0" err="1">
                <a:effectLst/>
              </a:rPr>
              <a:t>NestJS</a:t>
            </a:r>
            <a:r>
              <a:rPr lang="es-ES" sz="1200" b="0" kern="1200" dirty="0">
                <a:effectLst/>
              </a:rPr>
              <a:t>, MySQL 8.4, mysql2, migraciones SQL y </a:t>
            </a:r>
            <a:r>
              <a:rPr lang="es-ES" sz="1200" b="0" kern="1200" dirty="0" err="1">
                <a:effectLst/>
              </a:rPr>
              <a:t>documentacion</a:t>
            </a:r>
            <a:endParaRPr lang="es-ES" sz="1200" b="0" kern="1200" dirty="0">
              <a:effectLst/>
            </a:endParaRPr>
          </a:p>
          <a:p>
            <a:r>
              <a:rPr lang="es-ES" sz="1200" b="0" kern="1200" dirty="0" err="1">
                <a:effectLst/>
              </a:rPr>
              <a:t>OpenAPI</a:t>
            </a:r>
            <a:r>
              <a:rPr lang="es-ES" sz="1200" b="0" kern="1200" dirty="0">
                <a:effectLst/>
              </a:rPr>
              <a:t>/Swagger. En </a:t>
            </a:r>
            <a:r>
              <a:rPr lang="es-ES" sz="1200" b="0" kern="1200" dirty="0" err="1">
                <a:effectLst/>
              </a:rPr>
              <a:t>frontend</a:t>
            </a:r>
            <a:r>
              <a:rPr lang="es-ES" sz="1200" b="0" kern="1200" dirty="0">
                <a:effectLst/>
              </a:rPr>
              <a:t> se usa </a:t>
            </a:r>
            <a:r>
              <a:rPr lang="es-ES" sz="1200" b="0" kern="1200" dirty="0" err="1">
                <a:effectLst/>
              </a:rPr>
              <a:t>React</a:t>
            </a:r>
            <a:r>
              <a:rPr lang="es-ES" sz="1200" b="0" kern="1200" dirty="0">
                <a:effectLst/>
              </a:rPr>
              <a:t> con Vite, un cliente API aislado de</a:t>
            </a:r>
          </a:p>
          <a:p>
            <a:r>
              <a:rPr lang="es-ES" sz="1200" b="0" kern="1200" dirty="0">
                <a:effectLst/>
              </a:rPr>
              <a:t>los componentes y pruebas con </a:t>
            </a:r>
            <a:r>
              <a:rPr lang="es-ES" sz="1200" b="0" kern="1200" dirty="0" err="1">
                <a:effectLst/>
              </a:rPr>
              <a:t>React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Testing</a:t>
            </a:r>
            <a:r>
              <a:rPr lang="es-ES" sz="1200" b="0" kern="1200" dirty="0">
                <a:effectLst/>
              </a:rPr>
              <a:t> Library.</a:t>
            </a:r>
          </a:p>
          <a:p>
            <a:r>
              <a:rPr lang="es-ES" sz="1200" b="0" kern="1200" dirty="0">
                <a:effectLst/>
              </a:rPr>
              <a:t>Para calidad se usan </a:t>
            </a:r>
            <a:r>
              <a:rPr lang="es-ES" sz="1200" b="0" kern="1200" dirty="0" err="1">
                <a:effectLst/>
              </a:rPr>
              <a:t>Vitest</a:t>
            </a:r>
            <a:r>
              <a:rPr lang="es-ES" sz="1200" b="0" kern="1200" dirty="0">
                <a:effectLst/>
              </a:rPr>
              <a:t>, cobertura V8, </a:t>
            </a:r>
            <a:r>
              <a:rPr lang="es-ES" sz="1200" b="0" kern="1200" dirty="0" err="1">
                <a:effectLst/>
              </a:rPr>
              <a:t>ESLint</a:t>
            </a:r>
            <a:r>
              <a:rPr lang="es-ES" sz="1200" b="0" kern="1200" dirty="0">
                <a:effectLst/>
              </a:rPr>
              <a:t>, </a:t>
            </a:r>
            <a:r>
              <a:rPr lang="es-ES" sz="1200" b="0" kern="1200" dirty="0" err="1">
                <a:effectLst/>
              </a:rPr>
              <a:t>Prettier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Playwright</a:t>
            </a:r>
            <a:r>
              <a:rPr lang="es-ES" sz="1200" b="0" kern="1200" dirty="0">
                <a:effectLst/>
              </a:rPr>
              <a:t> para</a:t>
            </a:r>
          </a:p>
          <a:p>
            <a:r>
              <a:rPr lang="es-ES" sz="1200" b="0" kern="1200" dirty="0">
                <a:effectLst/>
              </a:rPr>
              <a:t>flujos </a:t>
            </a:r>
            <a:r>
              <a:rPr lang="es-ES" sz="1200" b="0" kern="1200" dirty="0" err="1">
                <a:effectLst/>
              </a:rPr>
              <a:t>end-to-end</a:t>
            </a:r>
            <a:r>
              <a:rPr lang="es-ES" sz="1200" b="0" kern="1200" dirty="0">
                <a:effectLst/>
              </a:rPr>
              <a:t>. Para despliegue se incluyen Docker </a:t>
            </a:r>
            <a:r>
              <a:rPr lang="es-ES" sz="1200" b="0" kern="1200" dirty="0" err="1">
                <a:effectLst/>
              </a:rPr>
              <a:t>Compose</a:t>
            </a:r>
            <a:r>
              <a:rPr lang="es-ES" sz="1200" b="0" kern="1200" dirty="0">
                <a:effectLst/>
              </a:rPr>
              <a:t>, manifiestos de</a:t>
            </a:r>
          </a:p>
          <a:p>
            <a:r>
              <a:rPr lang="es-ES" sz="1200" b="0" kern="1200" dirty="0" err="1">
                <a:effectLst/>
              </a:rPr>
              <a:t>Kubernetes</a:t>
            </a:r>
            <a:r>
              <a:rPr lang="es-ES" sz="1200" b="0" kern="1200" dirty="0">
                <a:effectLst/>
              </a:rPr>
              <a:t>, chart Helm e </a:t>
            </a:r>
            <a:r>
              <a:rPr lang="es-ES" sz="1200" b="0" kern="1200" dirty="0" err="1">
                <a:effectLst/>
              </a:rPr>
              <a:t>imagenes</a:t>
            </a:r>
            <a:r>
              <a:rPr lang="es-ES" sz="1200" b="0" kern="1200" dirty="0">
                <a:effectLst/>
              </a:rPr>
              <a:t> Docker publicables.</a:t>
            </a:r>
          </a:p>
          <a:p>
            <a:r>
              <a:rPr lang="es-ES" sz="1200" b="0" kern="1200" dirty="0">
                <a:effectLst/>
              </a:rPr>
              <a:t>La clave no es solo la lista de </a:t>
            </a:r>
            <a:r>
              <a:rPr lang="es-ES" sz="1200" b="0" kern="1200" dirty="0" err="1">
                <a:effectLst/>
              </a:rPr>
              <a:t>tecnologias</a:t>
            </a:r>
            <a:r>
              <a:rPr lang="es-ES" sz="1200" b="0" kern="1200" dirty="0">
                <a:effectLst/>
              </a:rPr>
              <a:t>, sino que cada una esta ubicada en</a:t>
            </a:r>
          </a:p>
          <a:p>
            <a:r>
              <a:rPr lang="es-ES" sz="1200" b="0" kern="1200" dirty="0">
                <a:effectLst/>
              </a:rPr>
              <a:t>una capa concreta y con limites </a:t>
            </a:r>
            <a:r>
              <a:rPr lang="es-ES" sz="1200" b="0" kern="1200" dirty="0" err="1">
                <a:effectLst/>
              </a:rPr>
              <a:t>explicitos</a:t>
            </a:r>
            <a:r>
              <a:rPr lang="es-ES" sz="1200" b="0" kern="1200" dirty="0">
                <a:effectLst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A nivel funcional, OKVNS permite gestionar </a:t>
            </a:r>
            <a:r>
              <a:rPr lang="es-ES" sz="1200" b="0" kern="1200" dirty="0" err="1">
                <a:effectLst/>
              </a:rPr>
              <a:t>namespaces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entries</a:t>
            </a:r>
            <a:r>
              <a:rPr lang="es-ES" sz="1200" b="0" kern="1200" dirty="0">
                <a:effectLst/>
              </a:rPr>
              <a:t>.</a:t>
            </a:r>
          </a:p>
          <a:p>
            <a:r>
              <a:rPr lang="es-ES" sz="1200" b="0" kern="1200" dirty="0">
                <a:effectLst/>
              </a:rPr>
              <a:t>Un </a:t>
            </a:r>
            <a:r>
              <a:rPr lang="es-ES" sz="1200" b="0" kern="1200" dirty="0" err="1">
                <a:effectLst/>
              </a:rPr>
              <a:t>namespace</a:t>
            </a:r>
            <a:r>
              <a:rPr lang="es-ES" sz="1200" b="0" kern="1200" dirty="0">
                <a:effectLst/>
              </a:rPr>
              <a:t> agrupa configuraciones relacionadas. Puede crearse, listarse,</a:t>
            </a:r>
          </a:p>
          <a:p>
            <a:r>
              <a:rPr lang="es-ES" sz="1200" b="0" kern="1200" dirty="0">
                <a:effectLst/>
              </a:rPr>
              <a:t>filtrarse, ordenarse, actualizarse y eliminarse. Dentro de cada </a:t>
            </a:r>
            <a:r>
              <a:rPr lang="es-ES" sz="1200" b="0" kern="1200" dirty="0" err="1">
                <a:effectLst/>
              </a:rPr>
              <a:t>namespace</a:t>
            </a:r>
            <a:r>
              <a:rPr lang="es-ES" sz="1200" b="0" kern="1200" dirty="0">
                <a:effectLst/>
              </a:rPr>
              <a:t> hay</a:t>
            </a:r>
          </a:p>
          <a:p>
            <a:r>
              <a:rPr lang="es-ES" sz="1200" b="0" kern="1200" dirty="0" err="1">
                <a:effectLst/>
              </a:rPr>
              <a:t>entries</a:t>
            </a:r>
            <a:r>
              <a:rPr lang="es-ES" sz="1200" b="0" kern="1200" dirty="0">
                <a:effectLst/>
              </a:rPr>
              <a:t>, que son pares nombre-valor con </a:t>
            </a:r>
            <a:r>
              <a:rPr lang="es-ES" sz="1200" b="0" kern="1200" dirty="0" err="1">
                <a:effectLst/>
              </a:rPr>
              <a:t>descripcion</a:t>
            </a:r>
            <a:r>
              <a:rPr lang="es-ES" sz="1200" b="0" kern="1200" dirty="0">
                <a:effectLst/>
              </a:rPr>
              <a:t> opcional, </a:t>
            </a:r>
            <a:r>
              <a:rPr lang="es-ES" sz="1200" b="0" kern="1200" dirty="0" err="1">
                <a:effectLst/>
              </a:rPr>
              <a:t>timestamps</a:t>
            </a:r>
            <a:r>
              <a:rPr lang="es-ES" sz="1200" b="0" kern="1200" dirty="0">
                <a:effectLst/>
              </a:rPr>
              <a:t> y una</a:t>
            </a:r>
          </a:p>
          <a:p>
            <a:r>
              <a:rPr lang="es-ES" sz="1200" b="0" kern="1200" dirty="0">
                <a:effectLst/>
              </a:rPr>
              <a:t>marca `</a:t>
            </a:r>
            <a:r>
              <a:rPr lang="es-ES" sz="1200" b="0" kern="1200" dirty="0" err="1">
                <a:effectLst/>
              </a:rPr>
              <a:t>env_dependent</a:t>
            </a:r>
            <a:r>
              <a:rPr lang="es-ES" sz="1200" b="0" kern="1200" dirty="0">
                <a:effectLst/>
              </a:rPr>
              <a:t>`.</a:t>
            </a:r>
          </a:p>
          <a:p>
            <a:r>
              <a:rPr lang="es-ES" sz="1200" b="0" kern="1200" dirty="0">
                <a:effectLst/>
              </a:rPr>
              <a:t>Esa marca permite señalar valores que dependen del entorno, por ejemplo una URL</a:t>
            </a:r>
          </a:p>
          <a:p>
            <a:r>
              <a:rPr lang="es-ES" sz="1200" b="0" kern="1200" dirty="0">
                <a:effectLst/>
              </a:rPr>
              <a:t>de </a:t>
            </a:r>
            <a:r>
              <a:rPr lang="es-ES" sz="1200" b="0" kern="1200" dirty="0" err="1">
                <a:effectLst/>
              </a:rPr>
              <a:t>produccion</a:t>
            </a:r>
            <a:r>
              <a:rPr lang="es-ES" sz="1200" b="0" kern="1200" dirty="0">
                <a:effectLst/>
              </a:rPr>
              <a:t> o el host de una base de datos. OKVNS no modifica </a:t>
            </a:r>
            <a:r>
              <a:rPr lang="es-ES" sz="1200" b="0" kern="1200" dirty="0" err="1">
                <a:effectLst/>
              </a:rPr>
              <a:t>automaticamente</a:t>
            </a:r>
            <a:endParaRPr lang="es-ES" sz="1200" b="0" kern="1200" dirty="0">
              <a:effectLst/>
            </a:endParaRPr>
          </a:p>
          <a:p>
            <a:r>
              <a:rPr lang="es-ES" sz="1200" b="0" kern="1200" dirty="0">
                <a:effectLst/>
              </a:rPr>
              <a:t>esos valores, pero los hace visibles para que se revisen cuando se exportan de</a:t>
            </a:r>
          </a:p>
          <a:p>
            <a:r>
              <a:rPr lang="es-ES" sz="1200" b="0" kern="1200" dirty="0">
                <a:effectLst/>
              </a:rPr>
              <a:t>un entorno y se importan en otro.</a:t>
            </a:r>
          </a:p>
          <a:p>
            <a:r>
              <a:rPr lang="es-ES" sz="1200" b="0" kern="1200" dirty="0" err="1">
                <a:effectLst/>
              </a:rPr>
              <a:t>Ademas</a:t>
            </a:r>
            <a:r>
              <a:rPr lang="es-ES" sz="1200" b="0" kern="1200" dirty="0">
                <a:effectLst/>
              </a:rPr>
              <a:t>, el sistema incluye </a:t>
            </a:r>
            <a:r>
              <a:rPr lang="es-ES" sz="1200" b="0" kern="1200" dirty="0" err="1">
                <a:effectLst/>
              </a:rPr>
              <a:t>importacion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exportacion</a:t>
            </a:r>
            <a:r>
              <a:rPr lang="es-ES" sz="1200" b="0" kern="1200" dirty="0">
                <a:effectLst/>
              </a:rPr>
              <a:t> YAML, </a:t>
            </a:r>
            <a:r>
              <a:rPr lang="es-ES" sz="1200" b="0" kern="1200" dirty="0" err="1">
                <a:effectLst/>
              </a:rPr>
              <a:t>health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checks</a:t>
            </a:r>
            <a:r>
              <a:rPr lang="es-ES" sz="1200" b="0" kern="1200" dirty="0">
                <a:effectLst/>
              </a:rPr>
              <a:t>,</a:t>
            </a:r>
          </a:p>
          <a:p>
            <a:r>
              <a:rPr lang="es-ES" sz="1200" b="0" kern="1200" dirty="0" err="1">
                <a:effectLst/>
              </a:rPr>
              <a:t>readiness</a:t>
            </a:r>
            <a:r>
              <a:rPr lang="es-ES" sz="1200" b="0" kern="1200" dirty="0">
                <a:effectLst/>
              </a:rPr>
              <a:t>, Swagger y una interfaz web operativa.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El contrato YAML es una de las partes mas relevantes del TFM porque resuelve</a:t>
            </a:r>
          </a:p>
          <a:p>
            <a:r>
              <a:rPr lang="es-ES" sz="1200" b="0" kern="1200" dirty="0">
                <a:effectLst/>
              </a:rPr>
              <a:t>operaciones masivas de forma controlada.</a:t>
            </a:r>
          </a:p>
          <a:p>
            <a:r>
              <a:rPr lang="es-ES" sz="1200" b="0" kern="1200" dirty="0">
                <a:effectLst/>
              </a:rPr>
              <a:t>El formato </a:t>
            </a:r>
            <a:r>
              <a:rPr lang="es-ES" sz="1200" b="0" kern="1200" dirty="0" err="1">
                <a:effectLst/>
              </a:rPr>
              <a:t>canonico</a:t>
            </a:r>
            <a:r>
              <a:rPr lang="es-ES" sz="1200" b="0" kern="1200" dirty="0">
                <a:effectLst/>
              </a:rPr>
              <a:t> usa una </a:t>
            </a:r>
            <a:r>
              <a:rPr lang="es-ES" sz="1200" b="0" kern="1200" dirty="0" err="1">
                <a:effectLst/>
              </a:rPr>
              <a:t>raiz</a:t>
            </a:r>
            <a:r>
              <a:rPr lang="es-ES" sz="1200" b="0" kern="1200" dirty="0">
                <a:effectLst/>
              </a:rPr>
              <a:t> `</a:t>
            </a:r>
            <a:r>
              <a:rPr lang="es-ES" sz="1200" b="0" kern="1200" dirty="0" err="1">
                <a:effectLst/>
              </a:rPr>
              <a:t>namespaces</a:t>
            </a:r>
            <a:r>
              <a:rPr lang="es-ES" sz="1200" b="0" kern="1200" dirty="0">
                <a:effectLst/>
              </a:rPr>
              <a:t>` con una lista de </a:t>
            </a:r>
            <a:r>
              <a:rPr lang="es-ES" sz="1200" b="0" kern="1200" dirty="0" err="1">
                <a:effectLst/>
              </a:rPr>
              <a:t>namespaces</a:t>
            </a:r>
            <a:r>
              <a:rPr lang="es-ES" sz="1200" b="0" kern="1200" dirty="0">
                <a:effectLst/>
              </a:rPr>
              <a:t>. Cada</a:t>
            </a:r>
          </a:p>
          <a:p>
            <a:r>
              <a:rPr lang="es-ES" sz="1200" b="0" kern="1200" dirty="0" err="1">
                <a:effectLst/>
              </a:rPr>
              <a:t>namespace</a:t>
            </a:r>
            <a:r>
              <a:rPr lang="es-ES" sz="1200" b="0" kern="1200" dirty="0">
                <a:effectLst/>
              </a:rPr>
              <a:t> contiene su nombre, </a:t>
            </a:r>
            <a:r>
              <a:rPr lang="es-ES" sz="1200" b="0" kern="1200" dirty="0" err="1">
                <a:effectLst/>
              </a:rPr>
              <a:t>descripcion</a:t>
            </a:r>
            <a:r>
              <a:rPr lang="es-ES" sz="1200" b="0" kern="1200" dirty="0">
                <a:effectLst/>
              </a:rPr>
              <a:t> opcional y </a:t>
            </a:r>
            <a:r>
              <a:rPr lang="es-ES" sz="1200" b="0" kern="1200" dirty="0" err="1">
                <a:effectLst/>
              </a:rPr>
              <a:t>entries</a:t>
            </a:r>
            <a:r>
              <a:rPr lang="es-ES" sz="1200" b="0" kern="1200" dirty="0">
                <a:effectLst/>
              </a:rPr>
              <a:t>. Cada </a:t>
            </a:r>
            <a:r>
              <a:rPr lang="es-ES" sz="1200" b="0" kern="1200" dirty="0" err="1">
                <a:effectLst/>
              </a:rPr>
              <a:t>entry</a:t>
            </a:r>
            <a:r>
              <a:rPr lang="es-ES" sz="1200" b="0" kern="1200" dirty="0">
                <a:effectLst/>
              </a:rPr>
              <a:t> contiene</a:t>
            </a:r>
          </a:p>
          <a:p>
            <a:r>
              <a:rPr lang="es-ES" sz="1200" b="0" kern="1200" dirty="0">
                <a:effectLst/>
              </a:rPr>
              <a:t>nombre, valor, </a:t>
            </a:r>
            <a:r>
              <a:rPr lang="es-ES" sz="1200" b="0" kern="1200" dirty="0" err="1">
                <a:effectLst/>
              </a:rPr>
              <a:t>descripcion</a:t>
            </a:r>
            <a:r>
              <a:rPr lang="es-ES" sz="1200" b="0" kern="1200" dirty="0">
                <a:effectLst/>
              </a:rPr>
              <a:t> opcional y `</a:t>
            </a:r>
            <a:r>
              <a:rPr lang="es-ES" sz="1200" b="0" kern="1200" dirty="0" err="1">
                <a:effectLst/>
              </a:rPr>
              <a:t>env_dependent</a:t>
            </a:r>
            <a:r>
              <a:rPr lang="es-ES" sz="1200" b="0" kern="1200" dirty="0">
                <a:effectLst/>
              </a:rPr>
              <a:t>`.</a:t>
            </a:r>
          </a:p>
          <a:p>
            <a:r>
              <a:rPr lang="es-ES" sz="1200" b="0" kern="1200" dirty="0">
                <a:effectLst/>
              </a:rPr>
              <a:t>La </a:t>
            </a:r>
            <a:r>
              <a:rPr lang="es-ES" sz="1200" b="0" kern="1200" dirty="0" err="1">
                <a:effectLst/>
              </a:rPr>
              <a:t>importacion</a:t>
            </a:r>
            <a:r>
              <a:rPr lang="es-ES" sz="1200" b="0" kern="1200" dirty="0">
                <a:effectLst/>
              </a:rPr>
              <a:t> valida todo el documento antes de tocar la base de datos. Rechaza</a:t>
            </a:r>
          </a:p>
          <a:p>
            <a:r>
              <a:rPr lang="es-ES" sz="1200" b="0" kern="1200" dirty="0">
                <a:effectLst/>
              </a:rPr>
              <a:t>claves inesperadas, nombres duplicados, </a:t>
            </a:r>
            <a:r>
              <a:rPr lang="es-ES" sz="1200" b="0" kern="1200" dirty="0" err="1">
                <a:effectLst/>
              </a:rPr>
              <a:t>entries</a:t>
            </a:r>
            <a:r>
              <a:rPr lang="es-ES" sz="1200" b="0" kern="1200" dirty="0">
                <a:effectLst/>
              </a:rPr>
              <a:t> duplicadas, nombres </a:t>
            </a:r>
            <a:r>
              <a:rPr lang="es-ES" sz="1200" b="0" kern="1200" dirty="0" err="1">
                <a:effectLst/>
              </a:rPr>
              <a:t>invalidos</a:t>
            </a:r>
            <a:r>
              <a:rPr lang="es-ES" sz="1200" b="0" kern="1200" dirty="0">
                <a:effectLst/>
              </a:rPr>
              <a:t>,</a:t>
            </a:r>
          </a:p>
          <a:p>
            <a:r>
              <a:rPr lang="es-ES" sz="1200" b="0" kern="1200" dirty="0">
                <a:effectLst/>
              </a:rPr>
              <a:t>tipos incorrectos, descripciones demasiado largas, valores no </a:t>
            </a:r>
            <a:r>
              <a:rPr lang="es-ES" sz="1200" b="0" kern="1200" dirty="0" err="1">
                <a:effectLst/>
              </a:rPr>
              <a:t>string</a:t>
            </a:r>
            <a:r>
              <a:rPr lang="es-ES" sz="1200" b="0" kern="1200" dirty="0">
                <a:effectLst/>
              </a:rPr>
              <a:t>, booleanos</a:t>
            </a:r>
          </a:p>
          <a:p>
            <a:r>
              <a:rPr lang="es-ES" sz="1200" b="0" kern="1200" dirty="0">
                <a:effectLst/>
              </a:rPr>
              <a:t>mal representados y </a:t>
            </a:r>
            <a:r>
              <a:rPr lang="es-ES" sz="1200" b="0" kern="1200" dirty="0" err="1">
                <a:effectLst/>
              </a:rPr>
              <a:t>payloads</a:t>
            </a:r>
            <a:r>
              <a:rPr lang="es-ES" sz="1200" b="0" kern="1200" dirty="0">
                <a:effectLst/>
              </a:rPr>
              <a:t> demasiado grandes.</a:t>
            </a:r>
          </a:p>
          <a:p>
            <a:r>
              <a:rPr lang="es-ES" sz="1200" b="0" kern="1200" dirty="0">
                <a:effectLst/>
              </a:rPr>
              <a:t>Esto evita cambios parciales. Si el YAML no es valido, no se guarda nada. Si es</a:t>
            </a:r>
          </a:p>
          <a:p>
            <a:r>
              <a:rPr lang="es-ES" sz="1200" b="0" kern="1200" dirty="0">
                <a:effectLst/>
              </a:rPr>
              <a:t>valido, la </a:t>
            </a:r>
            <a:r>
              <a:rPr lang="es-ES" sz="1200" b="0" kern="1200" dirty="0" err="1">
                <a:effectLst/>
              </a:rPr>
              <a:t>importacion</a:t>
            </a:r>
            <a:r>
              <a:rPr lang="es-ES" sz="1200" b="0" kern="1200" dirty="0">
                <a:effectLst/>
              </a:rPr>
              <a:t> hace </a:t>
            </a:r>
            <a:r>
              <a:rPr lang="es-ES" sz="1200" b="0" kern="1200" dirty="0" err="1">
                <a:effectLst/>
              </a:rPr>
              <a:t>upsert</a:t>
            </a:r>
            <a:r>
              <a:rPr lang="es-ES" sz="1200" b="0" kern="1200" dirty="0">
                <a:effectLst/>
              </a:rPr>
              <a:t> por nombre de </a:t>
            </a:r>
            <a:r>
              <a:rPr lang="es-ES" sz="1200" b="0" kern="1200" dirty="0" err="1">
                <a:effectLst/>
              </a:rPr>
              <a:t>namespace</a:t>
            </a:r>
            <a:r>
              <a:rPr lang="es-ES" sz="1200" b="0" kern="1200" dirty="0">
                <a:effectLst/>
              </a:rPr>
              <a:t>: crea los que no</a:t>
            </a:r>
          </a:p>
          <a:p>
            <a:r>
              <a:rPr lang="es-ES" sz="1200" b="0" kern="1200" dirty="0">
                <a:effectLst/>
              </a:rPr>
              <a:t>existen y reemplaza las </a:t>
            </a:r>
            <a:r>
              <a:rPr lang="es-ES" sz="1200" b="0" kern="1200" dirty="0" err="1">
                <a:effectLst/>
              </a:rPr>
              <a:t>entries</a:t>
            </a:r>
            <a:r>
              <a:rPr lang="es-ES" sz="1200" b="0" kern="1200" dirty="0">
                <a:effectLst/>
              </a:rPr>
              <a:t> de los que ya existen. La </a:t>
            </a:r>
            <a:r>
              <a:rPr lang="es-ES" sz="1200" b="0" kern="1200" dirty="0" err="1">
                <a:effectLst/>
              </a:rPr>
              <a:t>exportacion</a:t>
            </a:r>
            <a:r>
              <a:rPr lang="es-ES" sz="1200" b="0" kern="1200" dirty="0">
                <a:effectLst/>
              </a:rPr>
              <a:t> siempre</a:t>
            </a:r>
          </a:p>
          <a:p>
            <a:r>
              <a:rPr lang="es-ES" sz="1200" b="0" kern="1200" dirty="0">
                <a:effectLst/>
              </a:rPr>
              <a:t>sale en YAML </a:t>
            </a:r>
            <a:r>
              <a:rPr lang="es-ES" sz="1200" b="0" kern="1200" dirty="0" err="1">
                <a:effectLst/>
              </a:rPr>
              <a:t>canonico</a:t>
            </a:r>
            <a:r>
              <a:rPr lang="es-ES" sz="1200" b="0" kern="1200" dirty="0">
                <a:effectLst/>
              </a:rPr>
              <a:t>, ordenado y sin </a:t>
            </a:r>
            <a:r>
              <a:rPr lang="es-ES" sz="1200" b="0" kern="1200" dirty="0" err="1">
                <a:effectLst/>
              </a:rPr>
              <a:t>fences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markdown</a:t>
            </a:r>
            <a:r>
              <a:rPr lang="es-ES" sz="1200" b="0" kern="1200" dirty="0">
                <a:effectLst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El proyecto se ha guiado con </a:t>
            </a:r>
            <a:r>
              <a:rPr lang="es-ES" sz="1200" b="0" kern="1200" dirty="0" err="1">
                <a:effectLst/>
              </a:rPr>
              <a:t>OpenSpec</a:t>
            </a:r>
            <a:r>
              <a:rPr lang="es-ES" sz="1200" b="0" kern="1200" dirty="0">
                <a:effectLst/>
              </a:rPr>
              <a:t>. Esto significa que las capacidades no se</a:t>
            </a:r>
          </a:p>
          <a:p>
            <a:r>
              <a:rPr lang="es-ES" sz="1200" b="0" kern="1200" dirty="0">
                <a:effectLst/>
              </a:rPr>
              <a:t>han descrito solo </a:t>
            </a:r>
            <a:r>
              <a:rPr lang="es-ES" sz="1200" b="0" kern="1200" dirty="0" err="1">
                <a:effectLst/>
              </a:rPr>
              <a:t>despues</a:t>
            </a:r>
            <a:r>
              <a:rPr lang="es-ES" sz="1200" b="0" kern="1200" dirty="0">
                <a:effectLst/>
              </a:rPr>
              <a:t> de programar, sino como cambios trazables con</a:t>
            </a:r>
          </a:p>
          <a:p>
            <a:r>
              <a:rPr lang="es-ES" sz="1200" b="0" kern="1200" dirty="0">
                <a:effectLst/>
              </a:rPr>
              <a:t>propuesta, diseño, tareas y especificaciones.</a:t>
            </a:r>
          </a:p>
          <a:p>
            <a:r>
              <a:rPr lang="es-ES" sz="1200" b="0" kern="1200" dirty="0">
                <a:effectLst/>
              </a:rPr>
              <a:t>La </a:t>
            </a:r>
            <a:r>
              <a:rPr lang="es-ES" sz="1200" b="0" kern="1200" dirty="0" err="1">
                <a:effectLst/>
              </a:rPr>
              <a:t>evolucion</a:t>
            </a:r>
            <a:r>
              <a:rPr lang="es-ES" sz="1200" b="0" kern="1200" dirty="0">
                <a:effectLst/>
              </a:rPr>
              <a:t> se ve por fechas. El 8 y 9 de julio se construye la base del</a:t>
            </a:r>
          </a:p>
          <a:p>
            <a:r>
              <a:rPr lang="es-ES" sz="1200" b="0" kern="1200" dirty="0">
                <a:effectLst/>
              </a:rPr>
              <a:t>servicio, se pasa de </a:t>
            </a:r>
            <a:r>
              <a:rPr lang="es-ES" sz="1200" b="0" kern="1200" dirty="0" err="1">
                <a:effectLst/>
              </a:rPr>
              <a:t>markdown</a:t>
            </a:r>
            <a:r>
              <a:rPr lang="es-ES" sz="1200" b="0" kern="1200" dirty="0">
                <a:effectLst/>
              </a:rPr>
              <a:t> a YAML y se añade </a:t>
            </a:r>
            <a:r>
              <a:rPr lang="es-ES" sz="1200" b="0" kern="1200" dirty="0" err="1">
                <a:effectLst/>
              </a:rPr>
              <a:t>importacion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multipart</a:t>
            </a:r>
            <a:r>
              <a:rPr lang="es-ES" sz="1200" b="0" kern="1200" dirty="0">
                <a:effectLst/>
              </a:rPr>
              <a:t>. Del 13 al</a:t>
            </a:r>
          </a:p>
          <a:p>
            <a:r>
              <a:rPr lang="es-ES" sz="1200" b="0" kern="1200" dirty="0">
                <a:effectLst/>
              </a:rPr>
              <a:t>15 se incorporan MySQL, </a:t>
            </a:r>
            <a:r>
              <a:rPr lang="es-ES" sz="1200" b="0" kern="1200" dirty="0" err="1">
                <a:effectLst/>
              </a:rPr>
              <a:t>OpenAPI</a:t>
            </a:r>
            <a:r>
              <a:rPr lang="es-ES" sz="1200" b="0" kern="1200" dirty="0">
                <a:effectLst/>
              </a:rPr>
              <a:t>, el </a:t>
            </a:r>
            <a:r>
              <a:rPr lang="es-ES" sz="1200" b="0" kern="1200" dirty="0" err="1">
                <a:effectLst/>
              </a:rPr>
              <a:t>wrapper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TypeScript</a:t>
            </a:r>
            <a:r>
              <a:rPr lang="es-ES" sz="1200" b="0" kern="1200" dirty="0">
                <a:effectLst/>
              </a:rPr>
              <a:t>, descripciones,</a:t>
            </a:r>
          </a:p>
          <a:p>
            <a:r>
              <a:rPr lang="es-ES" sz="1200" b="0" kern="1200" dirty="0" err="1">
                <a:effectLst/>
              </a:rPr>
              <a:t>timestamps</a:t>
            </a:r>
            <a:r>
              <a:rPr lang="es-ES" sz="1200" b="0" kern="1200" dirty="0">
                <a:effectLst/>
              </a:rPr>
              <a:t>, `</a:t>
            </a:r>
            <a:r>
              <a:rPr lang="es-ES" sz="1200" b="0" kern="1200" dirty="0" err="1">
                <a:effectLst/>
              </a:rPr>
              <a:t>env_dependent</a:t>
            </a:r>
            <a:r>
              <a:rPr lang="es-ES" sz="1200" b="0" kern="1200" dirty="0">
                <a:effectLst/>
              </a:rPr>
              <a:t>` y </a:t>
            </a:r>
            <a:r>
              <a:rPr lang="es-ES" sz="1200" b="0" kern="1200" dirty="0" err="1">
                <a:effectLst/>
              </a:rPr>
              <a:t>paginacion</a:t>
            </a:r>
            <a:r>
              <a:rPr lang="es-ES" sz="1200" b="0" kern="1200" dirty="0">
                <a:effectLst/>
              </a:rPr>
              <a:t>. El 16 se añaden Helm e </a:t>
            </a:r>
            <a:r>
              <a:rPr lang="es-ES" sz="1200" b="0" kern="1200" dirty="0" err="1">
                <a:effectLst/>
              </a:rPr>
              <a:t>imagenes</a:t>
            </a:r>
            <a:r>
              <a:rPr lang="es-ES" sz="1200" b="0" kern="1200" dirty="0">
                <a:effectLst/>
              </a:rPr>
              <a:t> Docker</a:t>
            </a:r>
          </a:p>
          <a:p>
            <a:r>
              <a:rPr lang="es-ES" sz="1200" b="0" kern="1200" dirty="0">
                <a:effectLst/>
              </a:rPr>
              <a:t>publicables.</a:t>
            </a:r>
          </a:p>
          <a:p>
            <a:r>
              <a:rPr lang="es-ES" sz="1200" b="0" kern="1200" dirty="0">
                <a:effectLst/>
              </a:rPr>
              <a:t>Esto aporta una lectura importante para el TFM: se puede seguir la </a:t>
            </a:r>
            <a:r>
              <a:rPr lang="es-ES" sz="1200" b="0" kern="1200" dirty="0" err="1">
                <a:effectLst/>
              </a:rPr>
              <a:t>relacion</a:t>
            </a:r>
            <a:endParaRPr lang="es-ES" sz="1200" b="0" kern="1200" dirty="0">
              <a:effectLst/>
            </a:endParaRPr>
          </a:p>
          <a:p>
            <a:r>
              <a:rPr lang="es-ES" sz="1200" b="0" kern="1200" dirty="0">
                <a:effectLst/>
              </a:rPr>
              <a:t>entre requisito, </a:t>
            </a:r>
            <a:r>
              <a:rPr lang="es-ES" sz="1200" b="0" kern="1200" dirty="0" err="1">
                <a:effectLst/>
              </a:rPr>
              <a:t>decision</a:t>
            </a:r>
            <a:r>
              <a:rPr lang="es-ES" sz="1200" b="0" kern="1200" dirty="0">
                <a:effectLst/>
              </a:rPr>
              <a:t>, </a:t>
            </a:r>
            <a:r>
              <a:rPr lang="es-ES" sz="1200" b="0" kern="1200" dirty="0" err="1">
                <a:effectLst/>
              </a:rPr>
              <a:t>implementacion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verificacion</a:t>
            </a:r>
            <a:r>
              <a:rPr lang="es-ES" sz="1200" b="0" kern="1200" dirty="0">
                <a:effectLst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Los </a:t>
            </a:r>
            <a:r>
              <a:rPr lang="es-ES" sz="1200" b="0" kern="1200" dirty="0" err="1">
                <a:effectLst/>
              </a:rPr>
              <a:t>ADRs</a:t>
            </a:r>
            <a:r>
              <a:rPr lang="es-ES" sz="1200" b="0" kern="1200" dirty="0">
                <a:effectLst/>
              </a:rPr>
              <a:t> documentan las decisiones </a:t>
            </a:r>
            <a:r>
              <a:rPr lang="es-ES" sz="1200" b="0" kern="1200" dirty="0" err="1">
                <a:effectLst/>
              </a:rPr>
              <a:t>tecnicas</a:t>
            </a:r>
            <a:r>
              <a:rPr lang="es-ES" sz="1200" b="0" kern="1200" dirty="0">
                <a:effectLst/>
              </a:rPr>
              <a:t> principales y sus consecuencias.</a:t>
            </a:r>
          </a:p>
          <a:p>
            <a:r>
              <a:rPr lang="es-ES" sz="1200" b="0" kern="1200" dirty="0">
                <a:effectLst/>
              </a:rPr>
              <a:t>El proyecto empieza con un </a:t>
            </a:r>
            <a:r>
              <a:rPr lang="es-ES" sz="1200" b="0" kern="1200" dirty="0" err="1">
                <a:effectLst/>
              </a:rPr>
              <a:t>monorepo</a:t>
            </a:r>
            <a:r>
              <a:rPr lang="es-ES" sz="1200" b="0" kern="1200" dirty="0">
                <a:effectLst/>
              </a:rPr>
              <a:t> </a:t>
            </a:r>
            <a:r>
              <a:rPr lang="es-ES" sz="1200" b="0" kern="1200" dirty="0" err="1">
                <a:effectLst/>
              </a:rPr>
              <a:t>pnpm</a:t>
            </a:r>
            <a:r>
              <a:rPr lang="es-ES" sz="1200" b="0" kern="1200" dirty="0">
                <a:effectLst/>
              </a:rPr>
              <a:t> y una arquitectura limpia. Inicialmente</a:t>
            </a:r>
          </a:p>
          <a:p>
            <a:r>
              <a:rPr lang="es-ES" sz="1200" b="0" kern="1200" dirty="0">
                <a:effectLst/>
              </a:rPr>
              <a:t>hubo almacenamiento en memoria para construir el MVP, pero esa </a:t>
            </a:r>
            <a:r>
              <a:rPr lang="es-ES" sz="1200" b="0" kern="1200" dirty="0" err="1">
                <a:effectLst/>
              </a:rPr>
              <a:t>decision</a:t>
            </a:r>
            <a:r>
              <a:rPr lang="es-ES" sz="1200" b="0" kern="1200" dirty="0">
                <a:effectLst/>
              </a:rPr>
              <a:t> queda</a:t>
            </a:r>
          </a:p>
          <a:p>
            <a:r>
              <a:rPr lang="es-ES" sz="1200" b="0" kern="1200" dirty="0">
                <a:effectLst/>
              </a:rPr>
              <a:t>sustituida por MySQL en el ADR-0008.</a:t>
            </a:r>
          </a:p>
          <a:p>
            <a:r>
              <a:rPr lang="es-ES" sz="1200" b="0" kern="1200" dirty="0" err="1">
                <a:effectLst/>
              </a:rPr>
              <a:t>Tambien</a:t>
            </a:r>
            <a:r>
              <a:rPr lang="es-ES" sz="1200" b="0" kern="1200" dirty="0">
                <a:effectLst/>
              </a:rPr>
              <a:t> se documentan el contrato YAML estricto, el uso de </a:t>
            </a:r>
            <a:r>
              <a:rPr lang="es-ES" sz="1200" b="0" kern="1200" dirty="0" err="1">
                <a:effectLst/>
              </a:rPr>
              <a:t>NestJS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React</a:t>
            </a:r>
            <a:r>
              <a:rPr lang="es-ES" sz="1200" b="0" kern="1200" dirty="0">
                <a:effectLst/>
              </a:rPr>
              <a:t>/Vite,</a:t>
            </a:r>
          </a:p>
          <a:p>
            <a:r>
              <a:rPr lang="es-ES" sz="1200" b="0" kern="1200" dirty="0">
                <a:effectLst/>
              </a:rPr>
              <a:t>el despliegue </a:t>
            </a:r>
            <a:r>
              <a:rPr lang="es-ES" sz="1200" b="0" kern="1200" dirty="0" err="1">
                <a:effectLst/>
              </a:rPr>
              <a:t>stateless</a:t>
            </a:r>
            <a:r>
              <a:rPr lang="es-ES" sz="1200" b="0" kern="1200" dirty="0">
                <a:effectLst/>
              </a:rPr>
              <a:t> en contenedores, la estrategia de pruebas por capas y la</a:t>
            </a:r>
          </a:p>
          <a:p>
            <a:r>
              <a:rPr lang="es-ES" sz="1200" b="0" kern="1200" dirty="0">
                <a:effectLst/>
              </a:rPr>
              <a:t>forma segura de errores de la API.</a:t>
            </a:r>
          </a:p>
          <a:p>
            <a:r>
              <a:rPr lang="es-ES" sz="1200" b="0" kern="1200" dirty="0">
                <a:effectLst/>
              </a:rPr>
              <a:t>Esto es relevante porque no solo se ve que el sistema funciona, sino por que se</a:t>
            </a:r>
          </a:p>
          <a:p>
            <a:r>
              <a:rPr lang="es-ES" sz="1200" b="0" kern="1200" dirty="0">
                <a:effectLst/>
              </a:rPr>
              <a:t>ha llegado a esta arquitectura y que </a:t>
            </a:r>
            <a:r>
              <a:rPr lang="es-ES" sz="1200" b="0" kern="1200" dirty="0" err="1">
                <a:effectLst/>
              </a:rPr>
              <a:t>trade-offs</a:t>
            </a:r>
            <a:r>
              <a:rPr lang="es-ES" sz="1200" b="0" kern="1200" dirty="0">
                <a:effectLst/>
              </a:rPr>
              <a:t> se han aceptado.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La estrategia de pruebas esta dividida por capas. Dominio, </a:t>
            </a:r>
            <a:r>
              <a:rPr lang="es-ES" sz="1200" b="0" kern="1200" dirty="0" err="1">
                <a:effectLst/>
              </a:rPr>
              <a:t>aplicacion</a:t>
            </a:r>
            <a:r>
              <a:rPr lang="es-ES" sz="1200" b="0" kern="1200" dirty="0">
                <a:effectLst/>
              </a:rPr>
              <a:t>, YAML,</a:t>
            </a:r>
          </a:p>
          <a:p>
            <a:r>
              <a:rPr lang="es-ES" sz="1200" b="0" kern="1200" dirty="0" err="1">
                <a:effectLst/>
              </a:rPr>
              <a:t>shared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wrapper</a:t>
            </a:r>
            <a:r>
              <a:rPr lang="es-ES" sz="1200" b="0" kern="1200" dirty="0">
                <a:effectLst/>
              </a:rPr>
              <a:t> alcanzan el 100% de cobertura porque concentran reglas y</a:t>
            </a:r>
          </a:p>
          <a:p>
            <a:r>
              <a:rPr lang="es-ES" sz="1200" b="0" kern="1200" dirty="0">
                <a:effectLst/>
              </a:rPr>
              <a:t>contratos internos. La </a:t>
            </a:r>
            <a:r>
              <a:rPr lang="es-ES" sz="1200" b="0" kern="1200" dirty="0" err="1">
                <a:effectLst/>
              </a:rPr>
              <a:t>administracion</a:t>
            </a:r>
            <a:r>
              <a:rPr lang="es-ES" sz="1200" b="0" kern="1200" dirty="0">
                <a:effectLst/>
              </a:rPr>
              <a:t> web alcanza el 93%, cubriendo cliente API,</a:t>
            </a:r>
          </a:p>
          <a:p>
            <a:r>
              <a:rPr lang="es-ES" sz="1200" b="0" kern="1200" dirty="0">
                <a:effectLst/>
              </a:rPr>
              <a:t>paginas, formularios, errores y controles de listado.</a:t>
            </a:r>
          </a:p>
          <a:p>
            <a:r>
              <a:rPr lang="es-ES" sz="1200" b="0" kern="1200" dirty="0">
                <a:effectLst/>
              </a:rPr>
              <a:t>La API tiene una cobertura agregada menor, 66,17%, porque incluye esquemas,</a:t>
            </a:r>
          </a:p>
          <a:p>
            <a:r>
              <a:rPr lang="es-ES" sz="1200" b="0" kern="1200" dirty="0" err="1">
                <a:effectLst/>
              </a:rPr>
              <a:t>configuracion</a:t>
            </a:r>
            <a:r>
              <a:rPr lang="es-ES" sz="1200" b="0" kern="1200" dirty="0">
                <a:effectLst/>
              </a:rPr>
              <a:t> y adaptadores de MySQL cuyas pruebas de </a:t>
            </a:r>
            <a:r>
              <a:rPr lang="es-ES" sz="1200" b="0" kern="1200" dirty="0" err="1">
                <a:effectLst/>
              </a:rPr>
              <a:t>integracion</a:t>
            </a:r>
            <a:r>
              <a:rPr lang="es-ES" sz="1200" b="0" kern="1200" dirty="0">
                <a:effectLst/>
              </a:rPr>
              <a:t> quedan</a:t>
            </a:r>
          </a:p>
          <a:p>
            <a:r>
              <a:rPr lang="es-ES" sz="1200" b="0" kern="1200" dirty="0">
                <a:effectLst/>
              </a:rPr>
              <a:t>omitidas en la </a:t>
            </a:r>
            <a:r>
              <a:rPr lang="es-ES" sz="1200" b="0" kern="1200" dirty="0" err="1">
                <a:effectLst/>
              </a:rPr>
              <a:t>ejecucion</a:t>
            </a:r>
            <a:r>
              <a:rPr lang="es-ES" sz="1200" b="0" kern="1200" dirty="0">
                <a:effectLst/>
              </a:rPr>
              <a:t> base si no hay base de datos de test configurada.</a:t>
            </a:r>
          </a:p>
          <a:p>
            <a:r>
              <a:rPr lang="es-ES" sz="1200" b="0" kern="1200" dirty="0" err="1">
                <a:effectLst/>
              </a:rPr>
              <a:t>Ademas</a:t>
            </a:r>
            <a:r>
              <a:rPr lang="es-ES" sz="1200" b="0" kern="1200" dirty="0">
                <a:effectLst/>
              </a:rPr>
              <a:t> de unitarias y de contrato, hay pruebas </a:t>
            </a:r>
            <a:r>
              <a:rPr lang="es-ES" sz="1200" b="0" kern="1200" dirty="0" err="1">
                <a:effectLst/>
              </a:rPr>
              <a:t>end-to-end</a:t>
            </a:r>
            <a:r>
              <a:rPr lang="es-ES" sz="1200" b="0" kern="1200" dirty="0">
                <a:effectLst/>
              </a:rPr>
              <a:t> con </a:t>
            </a:r>
            <a:r>
              <a:rPr lang="es-ES" sz="1200" b="0" kern="1200" dirty="0" err="1">
                <a:effectLst/>
              </a:rPr>
              <a:t>Playwright</a:t>
            </a:r>
            <a:r>
              <a:rPr lang="es-ES" sz="1200" b="0" kern="1200" dirty="0">
                <a:effectLst/>
              </a:rPr>
              <a:t> para</a:t>
            </a:r>
          </a:p>
          <a:p>
            <a:r>
              <a:rPr lang="es-ES" sz="1200" b="0" kern="1200" dirty="0">
                <a:effectLst/>
              </a:rPr>
              <a:t>flujos completos: </a:t>
            </a:r>
            <a:r>
              <a:rPr lang="es-ES" sz="1200" b="0" kern="1200" dirty="0" err="1">
                <a:effectLst/>
              </a:rPr>
              <a:t>namespaces</a:t>
            </a:r>
            <a:r>
              <a:rPr lang="es-ES" sz="1200" b="0" kern="1200" dirty="0">
                <a:effectLst/>
              </a:rPr>
              <a:t>, </a:t>
            </a:r>
            <a:r>
              <a:rPr lang="es-ES" sz="1200" b="0" kern="1200" dirty="0" err="1">
                <a:effectLst/>
              </a:rPr>
              <a:t>entries</a:t>
            </a:r>
            <a:r>
              <a:rPr lang="es-ES" sz="1200" b="0" kern="1200" dirty="0">
                <a:effectLst/>
              </a:rPr>
              <a:t>, </a:t>
            </a:r>
            <a:r>
              <a:rPr lang="es-ES" sz="1200" b="0" kern="1200" dirty="0" err="1">
                <a:effectLst/>
              </a:rPr>
              <a:t>importacion</a:t>
            </a:r>
            <a:r>
              <a:rPr lang="es-ES" sz="1200" b="0" kern="1200" dirty="0">
                <a:effectLst/>
              </a:rPr>
              <a:t> YAML y </a:t>
            </a:r>
            <a:r>
              <a:rPr lang="es-ES" sz="1200" b="0" kern="1200" dirty="0" err="1">
                <a:effectLst/>
              </a:rPr>
              <a:t>exportacion</a:t>
            </a:r>
            <a:r>
              <a:rPr lang="es-ES" sz="1200" b="0" kern="1200" dirty="0">
                <a:effectLst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El despliegue esta pensado para ir desde desarrollo local hasta un entorno</a:t>
            </a:r>
          </a:p>
          <a:p>
            <a:r>
              <a:rPr lang="es-ES" sz="1200" b="0" kern="1200" dirty="0">
                <a:effectLst/>
              </a:rPr>
              <a:t>reproducible en </a:t>
            </a:r>
            <a:r>
              <a:rPr lang="es-ES" sz="1200" b="0" kern="1200" dirty="0" err="1">
                <a:effectLst/>
              </a:rPr>
              <a:t>Kubernetes</a:t>
            </a:r>
            <a:r>
              <a:rPr lang="es-ES" sz="1200" b="0" kern="1200" dirty="0">
                <a:effectLst/>
              </a:rPr>
              <a:t>.</a:t>
            </a:r>
          </a:p>
          <a:p>
            <a:r>
              <a:rPr lang="es-ES" sz="1200" b="0" kern="1200" dirty="0">
                <a:effectLst/>
              </a:rPr>
              <a:t>Con Docker </a:t>
            </a:r>
            <a:r>
              <a:rPr lang="es-ES" sz="1200" b="0" kern="1200" dirty="0" err="1">
                <a:effectLst/>
              </a:rPr>
              <a:t>Compose</a:t>
            </a:r>
            <a:r>
              <a:rPr lang="es-ES" sz="1200" b="0" kern="1200" dirty="0">
                <a:effectLst/>
              </a:rPr>
              <a:t> se levantan MySQL, migraciones, API y </a:t>
            </a:r>
            <a:r>
              <a:rPr lang="es-ES" sz="1200" b="0" kern="1200" dirty="0" err="1">
                <a:effectLst/>
              </a:rPr>
              <a:t>admin</a:t>
            </a:r>
            <a:r>
              <a:rPr lang="es-ES" sz="1200" b="0" kern="1200" dirty="0">
                <a:effectLst/>
              </a:rPr>
              <a:t> web. La API no</a:t>
            </a:r>
          </a:p>
          <a:p>
            <a:r>
              <a:rPr lang="es-ES" sz="1200" b="0" kern="1200" dirty="0">
                <a:effectLst/>
              </a:rPr>
              <a:t>usa almacenamiento local: el estado durable vive en MySQL. Por eso reiniciar API</a:t>
            </a:r>
          </a:p>
          <a:p>
            <a:r>
              <a:rPr lang="es-ES" sz="1200" b="0" kern="1200" dirty="0">
                <a:effectLst/>
              </a:rPr>
              <a:t>o </a:t>
            </a:r>
            <a:r>
              <a:rPr lang="es-ES" sz="1200" b="0" kern="1200" dirty="0" err="1">
                <a:effectLst/>
              </a:rPr>
              <a:t>frontend</a:t>
            </a:r>
            <a:r>
              <a:rPr lang="es-ES" sz="1200" b="0" kern="1200" dirty="0">
                <a:effectLst/>
              </a:rPr>
              <a:t> no borra los datos.</a:t>
            </a:r>
          </a:p>
          <a:p>
            <a:r>
              <a:rPr lang="es-ES" sz="1200" b="0" kern="1200" dirty="0">
                <a:effectLst/>
              </a:rPr>
              <a:t>En </a:t>
            </a:r>
            <a:r>
              <a:rPr lang="es-ES" sz="1200" b="0" kern="1200" dirty="0" err="1">
                <a:effectLst/>
              </a:rPr>
              <a:t>Kubernetes</a:t>
            </a:r>
            <a:r>
              <a:rPr lang="es-ES" sz="1200" b="0" kern="1200" dirty="0">
                <a:effectLst/>
              </a:rPr>
              <a:t> hay manifiestos de referencia con </a:t>
            </a:r>
            <a:r>
              <a:rPr lang="es-ES" sz="1200" b="0" kern="1200" dirty="0" err="1">
                <a:effectLst/>
              </a:rPr>
              <a:t>namespace</a:t>
            </a:r>
            <a:r>
              <a:rPr lang="es-ES" sz="1200" b="0" kern="1200" dirty="0">
                <a:effectLst/>
              </a:rPr>
              <a:t> `</a:t>
            </a:r>
            <a:r>
              <a:rPr lang="es-ES" sz="1200" b="0" kern="1200" dirty="0" err="1">
                <a:effectLst/>
              </a:rPr>
              <a:t>okvns</a:t>
            </a:r>
            <a:r>
              <a:rPr lang="es-ES" sz="1200" b="0" kern="1200" dirty="0">
                <a:effectLst/>
              </a:rPr>
              <a:t>`, </a:t>
            </a:r>
            <a:r>
              <a:rPr lang="es-ES" sz="1200" b="0" kern="1200" dirty="0" err="1">
                <a:effectLst/>
              </a:rPr>
              <a:t>Secrets</a:t>
            </a:r>
            <a:r>
              <a:rPr lang="es-ES" sz="1200" b="0" kern="1200" dirty="0">
                <a:effectLst/>
              </a:rPr>
              <a:t> para</a:t>
            </a:r>
          </a:p>
          <a:p>
            <a:r>
              <a:rPr lang="es-ES" sz="1200" b="0" kern="1200" dirty="0">
                <a:effectLst/>
              </a:rPr>
              <a:t>credenciales, </a:t>
            </a:r>
            <a:r>
              <a:rPr lang="es-ES" sz="1200" b="0" kern="1200" dirty="0" err="1">
                <a:effectLst/>
              </a:rPr>
              <a:t>ConfigMaps</a:t>
            </a:r>
            <a:r>
              <a:rPr lang="es-ES" sz="1200" b="0" kern="1200" dirty="0">
                <a:effectLst/>
              </a:rPr>
              <a:t> para </a:t>
            </a:r>
            <a:r>
              <a:rPr lang="es-ES" sz="1200" b="0" kern="1200" dirty="0" err="1">
                <a:effectLst/>
              </a:rPr>
              <a:t>configuracion</a:t>
            </a:r>
            <a:r>
              <a:rPr lang="es-ES" sz="1200" b="0" kern="1200" dirty="0">
                <a:effectLst/>
              </a:rPr>
              <a:t>, probes de </a:t>
            </a:r>
            <a:r>
              <a:rPr lang="es-ES" sz="1200" b="0" kern="1200" dirty="0" err="1">
                <a:effectLst/>
              </a:rPr>
              <a:t>health</a:t>
            </a:r>
            <a:r>
              <a:rPr lang="es-ES" sz="1200" b="0" kern="1200" dirty="0">
                <a:effectLst/>
              </a:rPr>
              <a:t> y </a:t>
            </a:r>
            <a:r>
              <a:rPr lang="es-ES" sz="1200" b="0" kern="1200" dirty="0" err="1">
                <a:effectLst/>
              </a:rPr>
              <a:t>readiness</a:t>
            </a:r>
            <a:r>
              <a:rPr lang="es-ES" sz="1200" b="0" kern="1200" dirty="0">
                <a:effectLst/>
              </a:rPr>
              <a:t>, un</a:t>
            </a:r>
          </a:p>
          <a:p>
            <a:r>
              <a:rPr lang="es-ES" sz="1200" b="0" kern="1200" dirty="0">
                <a:effectLst/>
              </a:rPr>
              <a:t>PVC para MySQL y </a:t>
            </a:r>
            <a:r>
              <a:rPr lang="es-ES" sz="1200" b="0" kern="1200" dirty="0" err="1">
                <a:effectLst/>
              </a:rPr>
              <a:t>deployments</a:t>
            </a:r>
            <a:r>
              <a:rPr lang="es-ES" sz="1200" b="0" kern="1200" dirty="0">
                <a:effectLst/>
              </a:rPr>
              <a:t> para API y </a:t>
            </a:r>
            <a:r>
              <a:rPr lang="es-ES" sz="1200" b="0" kern="1200" dirty="0" err="1">
                <a:effectLst/>
              </a:rPr>
              <a:t>frontend</a:t>
            </a:r>
            <a:r>
              <a:rPr lang="es-ES" sz="1200" b="0" kern="1200" dirty="0">
                <a:effectLst/>
              </a:rPr>
              <a:t>. </a:t>
            </a:r>
            <a:r>
              <a:rPr lang="es-ES" sz="1200" b="0" kern="1200" dirty="0" err="1">
                <a:effectLst/>
              </a:rPr>
              <a:t>Tambien</a:t>
            </a:r>
            <a:r>
              <a:rPr lang="es-ES" sz="1200" b="0" kern="1200" dirty="0">
                <a:effectLst/>
              </a:rPr>
              <a:t> hay un chart Helm que</a:t>
            </a:r>
          </a:p>
          <a:p>
            <a:r>
              <a:rPr lang="es-ES" sz="1200" b="0" kern="1200" dirty="0">
                <a:effectLst/>
              </a:rPr>
              <a:t>renderiza una </a:t>
            </a:r>
            <a:r>
              <a:rPr lang="es-ES" sz="1200" b="0" kern="1200" dirty="0" err="1">
                <a:effectLst/>
              </a:rPr>
              <a:t>instalacion</a:t>
            </a:r>
            <a:r>
              <a:rPr lang="es-ES" sz="1200" b="0" kern="1200" dirty="0">
                <a:effectLst/>
              </a:rPr>
              <a:t> equivalente y permite parametrizar </a:t>
            </a:r>
            <a:r>
              <a:rPr lang="es-ES" sz="1200" b="0" kern="1200" dirty="0" err="1">
                <a:effectLst/>
              </a:rPr>
              <a:t>imagenes</a:t>
            </a:r>
            <a:r>
              <a:rPr lang="es-ES" sz="1200" b="0" kern="1200" dirty="0">
                <a:effectLst/>
              </a:rPr>
              <a:t> y entorno.</a:t>
            </a:r>
          </a:p>
          <a:p>
            <a:r>
              <a:rPr lang="es-ES" sz="1200" b="0" kern="1200" dirty="0">
                <a:effectLst/>
              </a:rPr>
              <a:t>La API y el </a:t>
            </a:r>
            <a:r>
              <a:rPr lang="es-ES" sz="1200" b="0" kern="1200" dirty="0" err="1">
                <a:effectLst/>
              </a:rPr>
              <a:t>frontend</a:t>
            </a:r>
            <a:r>
              <a:rPr lang="es-ES" sz="1200" b="0" kern="1200" dirty="0">
                <a:effectLst/>
              </a:rPr>
              <a:t> son procesos </a:t>
            </a:r>
            <a:r>
              <a:rPr lang="es-ES" sz="1200" b="0" kern="1200" dirty="0" err="1">
                <a:effectLst/>
              </a:rPr>
              <a:t>stateless</a:t>
            </a:r>
            <a:r>
              <a:rPr lang="es-ES" sz="1200" b="0" kern="1200" dirty="0">
                <a:effectLst/>
              </a:rPr>
              <a:t>; escalar significa aumentar</a:t>
            </a:r>
          </a:p>
          <a:p>
            <a:r>
              <a:rPr lang="es-ES" sz="1200" b="0" kern="1200" dirty="0">
                <a:effectLst/>
              </a:rPr>
              <a:t>replicas, mientras que la persistencia queda en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369C-34F6-C144-8965-155AA5A0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BE616-1276-FB3C-C56C-704C4C648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91343-44ED-5002-29C9-C53389D95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0" kern="12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A80BB-E965-92F4-DD97-AB33083D9A7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6485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kern="1200" dirty="0">
                <a:effectLst/>
              </a:rPr>
              <a:t>Como </a:t>
            </a:r>
            <a:r>
              <a:rPr lang="es-ES" sz="1200" b="0" kern="1200" dirty="0" err="1">
                <a:effectLst/>
              </a:rPr>
              <a:t>sintesis</a:t>
            </a:r>
            <a:r>
              <a:rPr lang="es-ES" sz="1200" b="0" kern="1200" dirty="0">
                <a:effectLst/>
              </a:rPr>
              <a:t>, OKVNS demuestra una plataforma completa, no una prueba </a:t>
            </a:r>
            <a:r>
              <a:rPr lang="es-ES" sz="1200" b="0" kern="1200" dirty="0" err="1">
                <a:effectLst/>
              </a:rPr>
              <a:t>tecnica</a:t>
            </a:r>
            <a:endParaRPr lang="es-ES" sz="1200" b="0" kern="1200" dirty="0">
              <a:effectLst/>
            </a:endParaRPr>
          </a:p>
          <a:p>
            <a:r>
              <a:rPr lang="es-ES" sz="1200" b="0" kern="1200" dirty="0">
                <a:effectLst/>
              </a:rPr>
              <a:t>aislada.</a:t>
            </a:r>
          </a:p>
          <a:p>
            <a:r>
              <a:rPr lang="es-ES" sz="1200" b="0" kern="1200" dirty="0">
                <a:effectLst/>
              </a:rPr>
              <a:t>Tiene arquitectura limpia, contratos documentados, </a:t>
            </a:r>
            <a:r>
              <a:rPr lang="es-ES" sz="1200" b="0" kern="1200" dirty="0" err="1">
                <a:effectLst/>
              </a:rPr>
              <a:t>validacion</a:t>
            </a:r>
            <a:r>
              <a:rPr lang="es-ES" sz="1200" b="0" kern="1200" dirty="0">
                <a:effectLst/>
              </a:rPr>
              <a:t> estricta,</a:t>
            </a:r>
          </a:p>
          <a:p>
            <a:r>
              <a:rPr lang="es-ES" sz="1200" b="0" kern="1200" dirty="0">
                <a:effectLst/>
              </a:rPr>
              <a:t>persistencia durable, interfaz de </a:t>
            </a:r>
            <a:r>
              <a:rPr lang="es-ES" sz="1200" b="0" kern="1200" dirty="0" err="1">
                <a:effectLst/>
              </a:rPr>
              <a:t>administracion</a:t>
            </a:r>
            <a:r>
              <a:rPr lang="es-ES" sz="1200" b="0" kern="1200" dirty="0">
                <a:effectLst/>
              </a:rPr>
              <a:t>, API publicada, pruebas por</a:t>
            </a:r>
          </a:p>
          <a:p>
            <a:r>
              <a:rPr lang="es-ES" sz="1200" b="0" kern="1200" dirty="0">
                <a:effectLst/>
              </a:rPr>
              <a:t>capas y despliegue reproducible.</a:t>
            </a:r>
          </a:p>
          <a:p>
            <a:r>
              <a:rPr lang="es-ES" sz="1200" b="0" kern="1200" dirty="0">
                <a:effectLst/>
              </a:rPr>
              <a:t>La principal </a:t>
            </a:r>
            <a:r>
              <a:rPr lang="es-ES" sz="1200" b="0" kern="1200" dirty="0" err="1">
                <a:effectLst/>
              </a:rPr>
              <a:t>limitacion</a:t>
            </a:r>
            <a:r>
              <a:rPr lang="es-ES" sz="1200" b="0" kern="1200" dirty="0">
                <a:effectLst/>
              </a:rPr>
              <a:t> asumida es que esta primera </a:t>
            </a:r>
            <a:r>
              <a:rPr lang="es-ES" sz="1200" b="0" kern="1200" dirty="0" err="1">
                <a:effectLst/>
              </a:rPr>
              <a:t>version</a:t>
            </a:r>
            <a:r>
              <a:rPr lang="es-ES" sz="1200" b="0" kern="1200" dirty="0">
                <a:effectLst/>
              </a:rPr>
              <a:t> no incluye</a:t>
            </a:r>
          </a:p>
          <a:p>
            <a:r>
              <a:rPr lang="es-ES" sz="1200" b="0" kern="1200" dirty="0" err="1">
                <a:effectLst/>
              </a:rPr>
              <a:t>autenticacion</a:t>
            </a:r>
            <a:r>
              <a:rPr lang="es-ES" sz="1200" b="0" kern="1200" dirty="0">
                <a:effectLst/>
              </a:rPr>
              <a:t> ni </a:t>
            </a:r>
            <a:r>
              <a:rPr lang="es-ES" sz="1200" b="0" kern="1200" dirty="0" err="1">
                <a:effectLst/>
              </a:rPr>
              <a:t>autorizacion</a:t>
            </a:r>
            <a:r>
              <a:rPr lang="es-ES" sz="1200" b="0" kern="1200" dirty="0">
                <a:effectLst/>
              </a:rPr>
              <a:t>. Esta </a:t>
            </a:r>
            <a:r>
              <a:rPr lang="es-ES" sz="1200" b="0" kern="1200" dirty="0" err="1">
                <a:effectLst/>
              </a:rPr>
              <a:t>decision</a:t>
            </a:r>
            <a:r>
              <a:rPr lang="es-ES" sz="1200" b="0" kern="1200" dirty="0">
                <a:effectLst/>
              </a:rPr>
              <a:t> esta documentada como no objetivo</a:t>
            </a:r>
          </a:p>
          <a:p>
            <a:r>
              <a:rPr lang="es-ES" sz="1200" b="0" kern="1200" dirty="0">
                <a:effectLst/>
              </a:rPr>
              <a:t>del MVP para centrar el TFM en arquitectura, contrato funcional, persistencia,</a:t>
            </a:r>
          </a:p>
          <a:p>
            <a:r>
              <a:rPr lang="es-ES" sz="1200" b="0" kern="1200" dirty="0">
                <a:effectLst/>
              </a:rPr>
              <a:t>operabilidad y calidad. Si el sistema evolucionara hacia uso real por equipos,</a:t>
            </a:r>
          </a:p>
          <a:p>
            <a:r>
              <a:rPr lang="es-ES" sz="1200" b="0" kern="1200" dirty="0">
                <a:effectLst/>
              </a:rPr>
              <a:t>la seguridad de acceso seria el siguiente bloque a diseñar y especificar.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>
            <a:noAutofit/>
          </a:bodyPr>
          <a:lstStyle/>
          <a:p>
            <a:r>
              <a:rPr sz="7200" dirty="0"/>
              <a:t>OKVNS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742208"/>
            <a:ext cx="5702301" cy="10802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s-ES" sz="1800" dirty="0"/>
              <a:t>Proyecto </a:t>
            </a:r>
            <a:r>
              <a:rPr lang="es-ES" sz="1800" dirty="0" err="1"/>
              <a:t>OpenSource</a:t>
            </a:r>
            <a:r>
              <a:rPr sz="1800" dirty="0"/>
              <a:t> para </a:t>
            </a:r>
            <a:r>
              <a:rPr sz="1800" dirty="0" err="1"/>
              <a:t>gestionar</a:t>
            </a:r>
            <a:r>
              <a:rPr sz="1800" dirty="0"/>
              <a:t> </a:t>
            </a:r>
            <a:r>
              <a:rPr sz="1800" dirty="0" err="1"/>
              <a:t>configuracion</a:t>
            </a:r>
            <a:r>
              <a:rPr sz="1800" dirty="0"/>
              <a:t> </a:t>
            </a:r>
            <a:r>
              <a:rPr lang="es-ES" sz="1800" dirty="0"/>
              <a:t>clave</a:t>
            </a:r>
            <a:r>
              <a:rPr sz="1800" dirty="0"/>
              <a:t>-</a:t>
            </a:r>
            <a:r>
              <a:rPr sz="1800" dirty="0" err="1"/>
              <a:t>val</a:t>
            </a:r>
            <a:r>
              <a:rPr lang="es-ES" sz="1800" dirty="0" err="1"/>
              <a:t>or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tiempo</a:t>
            </a:r>
            <a:r>
              <a:rPr sz="1800" dirty="0"/>
              <a:t> de </a:t>
            </a:r>
            <a:r>
              <a:rPr sz="1800" dirty="0" err="1"/>
              <a:t>ejecucion</a:t>
            </a:r>
            <a:r>
              <a:rPr sz="1800" dirty="0"/>
              <a:t>, con API, admin web, </a:t>
            </a:r>
            <a:r>
              <a:rPr lang="es-ES" sz="1800" dirty="0"/>
              <a:t>exportación/importación </a:t>
            </a:r>
            <a:r>
              <a:rPr sz="1800" dirty="0"/>
              <a:t>YAML, MySQL y </a:t>
            </a:r>
            <a:r>
              <a:rPr sz="1800" dirty="0" err="1"/>
              <a:t>despliegue</a:t>
            </a:r>
            <a:r>
              <a:rPr sz="1800" dirty="0"/>
              <a:t> cloud-native.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5702300" cy="64915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s-ES" sz="1800" dirty="0"/>
              <a:t>TFM para “Desarrollo con IA”</a:t>
            </a:r>
            <a:r>
              <a:rPr sz="1800" dirty="0"/>
              <a:t> </a:t>
            </a:r>
            <a:r>
              <a:rPr lang="es-ES" sz="1800" dirty="0"/>
              <a:t>–</a:t>
            </a:r>
            <a:r>
              <a:rPr sz="1800" dirty="0"/>
              <a:t> </a:t>
            </a:r>
            <a:r>
              <a:rPr sz="1800" dirty="0" err="1"/>
              <a:t>BigSchool</a:t>
            </a:r>
            <a:endParaRPr lang="es-ES" sz="1800" dirty="0"/>
          </a:p>
          <a:p>
            <a:r>
              <a:rPr lang="es-ES" sz="1800" dirty="0"/>
              <a:t>por Esperanza Pérez Sánchez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266"/>
    </mc:Choice>
    <mc:Fallback>
      <p:transition spd="slow" advTm="462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t>La presentacion sigue el recorrido de una plataforma completa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="393700" y="2080009"/>
          <a:ext cx="11404600" cy="3914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6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Problema y objetivo del proyecto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Arquitectura, componentes y stack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Funciones principales y contrato YAML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OpenSpec, ADRs y trazabilidad tecnica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Cobertura, despliegue e implicaciones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Cierre y lectura del resultado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127"/>
    </mc:Choice>
    <mc:Fallback>
      <p:transition spd="slow" advTm="2912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202359C0-8A7A-196E-DD58-8E6569619F09}" type="slidenum">
              <a:rPr/>
              <a:t>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488"/>
            <a:ext cx="11404600" cy="1283032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OKVNS separa la experiencia de administracion del nucleo de reglas y la persistencia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Nucleo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Casos de uso, puertos y dominio mantienen reglas independientes de frameworks.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Persistencia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MySQL almacena namespaces y entries con restricciones y transacciones.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noGrp="1"/>
          </p:cNvSpPr>
          <p:nvPr/>
        </p:nvSpPr>
        <p:spPr>
          <a:xfrm>
            <a:off x="388306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noGrp="1"/>
          </p:cNvSpPr>
          <p:nvPr/>
        </p:nvSpPr>
        <p:spPr>
          <a:xfrm>
            <a:off x="70117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Presentacion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Admin web React/Vite y API REST NestJS exponen los flujos de operacion.</a:t>
            </a:r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noGrp="1"/>
          </p:cNvSpPr>
          <p:nvPr/>
        </p:nvSpPr>
        <p:spPr>
          <a:xfrm>
            <a:off x="706998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noGrp="1"/>
          </p:cNvSpPr>
          <p:nvPr/>
        </p:nvSpPr>
        <p:spPr>
          <a:xfrm>
            <a:off x="393701" y="1450523"/>
            <a:ext cx="11404599" cy="162922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 plataforma organiza configuracion UTF-8 en namespaces y entries. La UI administra los recursos; la API aplica contratos; la aplicacion orquesta casos de uso; el dominio conserva invariantes; MySQL aporta durabilidad.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774"/>
    </mc:Choice>
    <mc:Fallback>
      <p:transition spd="slow" advTm="4977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El stack combina productividad TypeScript con limites claros entre capas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noGrp="1"/>
          </p:cNvSpPr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noGrp="1"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Frontend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React, Vite, cliente API aislado y React Testing Library.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noGrp="1"/>
          </p:cNvSpPr>
          <p:nvPr/>
        </p:nvSpPr>
        <p:spPr>
          <a:xfrm>
            <a:off x="409043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noGrp="1"/>
          </p:cNvSpPr>
          <p:nvPr/>
        </p:nvSpPr>
        <p:spPr>
          <a:xfrm>
            <a:off x="706278" y="2664788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Backend</a:t>
            </a:r>
          </a:p>
          <a:p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NestJS, MySQL 8.4, mysql2, migraciones SQL y OpenAPI/Swagger.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noGrp="1"/>
          </p:cNvSpPr>
          <p:nvPr/>
        </p:nvSpPr>
        <p:spPr>
          <a:xfrm>
            <a:off x="6561647" y="4665038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Despliegue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Docker Compose, Kubernetes, Helm y publicacion de imagenes Docker.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noGrp="1"/>
          </p:cNvSpPr>
          <p:nvPr/>
        </p:nvSpPr>
        <p:spPr>
          <a:xfrm>
            <a:off x="706278" y="4665038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Calidad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Vitest, cobertura V8, ESLint, Prettier y Playwright E2E.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noGrp="1"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/>
              </a:solidFill>
              <a:latin typeface="Helvetica Neue Medium"/>
              <a:ea typeface="Helvetica Neue Medium"/>
              <a:cs typeface="Helvetica Neue Medium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 decision base es un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monorepo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pnpm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: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contratos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compartidos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, builds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repetibles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y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pruebas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por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workspace.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742"/>
    </mc:Choice>
    <mc:Fallback>
      <p:transition spd="slow" advTm="4674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EE5B3003-2C54-13C6-9832-7637201064DE}" type="slidenum">
              <a:rPr/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Las funcionalidades cubren administracion, contrato de datos y operacion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noGrp="1"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Crear, listar, filtrar, ordenar, actualizar y eliminar agrupaciones de configuracion.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noGrp="1"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Namespaces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noGrp="1"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Gestionar claves, valores, descripciones, timestamps y marca env_dependent.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noGrp="1"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Entries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noGrp="1"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Importar y exportar namespaces con validacion estricta y operaciones atomicas.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noGrp="1"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YAML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noGrp="1"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Health, readiness, Docker Compose, Kubernetes, Helm y documentacion OpenAPI.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noGrp="1"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Operabilidad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noGrp="1"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Capacidades clave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OKVNS no es solo una API CRUD: integra validacion, importacion/exportacion, UI operativa, persistencia y observabilidad basica.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188"/>
    </mc:Choice>
    <mc:Fallback>
      <p:transition spd="slow" advTm="5018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8C630A04-5A25-9E0C-9436-126091DB86B3}" type="slidenum">
              <a:rPr/>
              <a:t>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El contrato YAML protege los cambios masivos antes de tocar la base de datos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Importacion/exportacion segura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YAML crudo, sin fences markdown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 formato canonico usa namespaces: [...] y admite una forma heredada de namespace unico solo al importar. Antes de mutar almacenamiento, el parser valida estructura, nombres, duplicados, tipos, descripciones, env_dependent y tamano del payload.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Exportacion canonica y ordenada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Importacion atomica por peticion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Upsert por nombre de namespace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Errores seguros INVALID_YAML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noGrp="1"/>
          </p:cNvSpPr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609"/>
    </mc:Choice>
    <mc:Fallback>
      <p:transition spd="slow" advTm="6360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D3D7D1C8-AE23-AA48-DF65-C742588DBE47}" type="slidenum">
              <a:rPr/>
              <a:t>7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t>OpenSpec deja una trazabilidad clara entre requisitos y entregables</a:t>
            </a:r>
          </a:p>
        </p:txBody>
      </p:sp>
      <p:cxnSp>
        <p:nvCxnSpPr>
          <p:cNvPr id="33" name="Google Shape;2259;p159"/>
          <p:cNvCxnSpPr>
            <a:stCxn id="3" idx="2"/>
          </p:cNvCxnSpPr>
          <p:nvPr/>
        </p:nvCxnSpPr>
        <p:spPr>
          <a:xfrm>
            <a:off x="337718" y="5341621"/>
            <a:ext cx="12245400" cy="3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noGrp="1"/>
          </p:cNvSpPr>
          <p:nvPr/>
        </p:nvSpPr>
        <p:spPr>
          <a:xfrm>
            <a:off x="337718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noGrp="1"/>
          </p:cNvSpPr>
          <p:nvPr/>
        </p:nvSpPr>
        <p:spPr>
          <a:xfrm>
            <a:off x="42517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noGrp="1"/>
          </p:cNvSpPr>
          <p:nvPr/>
        </p:nvSpPr>
        <p:spPr>
          <a:xfrm>
            <a:off x="81760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noGrp="1"/>
          </p:cNvSpPr>
          <p:nvPr/>
        </p:nvSpPr>
        <p:spPr>
          <a:xfrm>
            <a:off x="393700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noGrp="1"/>
          </p:cNvSpPr>
          <p:nvPr/>
        </p:nvSpPr>
        <p:spPr>
          <a:xfrm>
            <a:off x="703381" y="1806797"/>
            <a:ext cx="2949339" cy="256676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08-09 jul.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 del servicio, migracion de markdown a YAML e importacion multipart.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noGrp="1"/>
          </p:cNvSpPr>
          <p:nvPr/>
        </p:nvSpPr>
        <p:spPr>
          <a:xfrm>
            <a:off x="4308475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noGrp="1"/>
          </p:cNvSpPr>
          <p:nvPr/>
        </p:nvSpPr>
        <p:spPr>
          <a:xfrm>
            <a:off x="4618156" y="1806797"/>
            <a:ext cx="2949339" cy="256676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13-15 jul.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MySQL, OpenAPI, wrapper, descripciones, timestamps, env_dependent y paginacion.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noGrp="1"/>
          </p:cNvSpPr>
          <p:nvPr/>
        </p:nvSpPr>
        <p:spPr>
          <a:xfrm>
            <a:off x="8237538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noGrp="1"/>
          </p:cNvSpPr>
          <p:nvPr/>
        </p:nvSpPr>
        <p:spPr>
          <a:xfrm>
            <a:off x="8547219" y="1806797"/>
            <a:ext cx="2949339" cy="2566766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16 jul.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Helm chart e imagenes Docker publicables para despliegue reproducible.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noGrp="1"/>
          </p:cNvSpPr>
          <p:nvPr/>
        </p:nvSpPr>
        <p:spPr>
          <a:xfrm>
            <a:off x="4251750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Producto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noGrp="1"/>
          </p:cNvSpPr>
          <p:nvPr/>
        </p:nvSpPr>
        <p:spPr>
          <a:xfrm>
            <a:off x="390950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noGrp="1"/>
          </p:cNvSpPr>
          <p:nvPr/>
        </p:nvSpPr>
        <p:spPr>
          <a:xfrm>
            <a:off x="8225439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Entrega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436"/>
    </mc:Choice>
    <mc:Fallback>
      <p:transition spd="slow" advTm="4643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BA58DA2A-B818-18A9-29C1-B697728D5BCE}" type="slidenum">
              <a:rPr/>
              <a:t>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Los ADRs explican por que la solucion termino con esta arquitectura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noGrp="1"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Las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decisiones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registradas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muestran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una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evolucion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deliberada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: primero MVP simple,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despues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contratos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estrictos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,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pruebas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,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despliegue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y </a:t>
            </a:r>
            <a:r>
              <a:rPr sz="1800" dirty="0" err="1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persistencia</a:t>
            </a:r>
            <a:r>
              <a:rPr sz="1800" dirty="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 durable.</a:t>
            </a:r>
          </a:p>
        </p:txBody>
      </p:sp>
      <p:graphicFrame>
        <p:nvGraphicFramePr>
          <p:cNvPr id="539" name="Google Shape;644;p93"/>
          <p:cNvGraphicFramePr/>
          <p:nvPr>
            <p:extLst>
              <p:ext uri="{D42A27DB-BD31-4B8C-83A1-F6EECF244321}">
                <p14:modId xmlns:p14="http://schemas.microsoft.com/office/powerpoint/2010/main" val="4078338512"/>
              </p:ext>
            </p:extLst>
          </p:nvPr>
        </p:nvGraphicFramePr>
        <p:xfrm>
          <a:off x="393700" y="1793868"/>
          <a:ext cx="11404599" cy="4720890"/>
        </p:xfrm>
        <a:graphic>
          <a:graphicData uri="http://schemas.openxmlformats.org/drawingml/2006/table">
            <a:tbl>
              <a:tblPr firstRow="1"/>
              <a:tblGrid>
                <a:gridCol w="390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 dirty="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ADR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Decision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Estado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Impacto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Comentario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0001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pnpm monorepo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Accepted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Contratos compartidos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Unifica API, frontend y paquetes.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0002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Clean architecture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Accepted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Bajo acoplamiento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Dominio sin frameworks.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0003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Storage memoria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Superseded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MVP rapido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Sustituido por MySQL.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0004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YAML estricto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Accepted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Import seguro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Valida antes de mutar.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0005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NestJS + React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Accepted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Stack presentacion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API y UI testeables.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0006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Contenedores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Accepted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Runtime stateless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Config externa.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0007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Pruebas + errores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Accepted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Calidad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No filtra detalles internos.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0008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MySQL durable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Accepted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Persistencia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dirty="0" err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Transacciones</a:t>
                      </a:r>
                      <a:r>
                        <a:rPr sz="1400" dirty="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 y </a:t>
                      </a:r>
                      <a:r>
                        <a:rPr sz="1400" dirty="0" err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migraciones</a:t>
                      </a:r>
                      <a:r>
                        <a:rPr sz="1400" dirty="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449"/>
    </mc:Choice>
    <mc:Fallback>
      <p:transition spd="slow" advTm="4144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388657AE-30A1-5A7A-6A7F-315D84436430}" type="slidenum">
              <a:rPr/>
              <a:t>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La cobertura es maxima en las capas de reglas y menor donde entra infraestructura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noGrp="1"/>
          </p:cNvSpPr>
          <p:nvPr/>
        </p:nvSpPr>
        <p:spPr>
          <a:xfrm>
            <a:off x="6264412" y="2739980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noGrp="1"/>
          </p:cNvSpPr>
          <p:nvPr/>
        </p:nvSpPr>
        <p:spPr>
          <a:xfrm>
            <a:off x="6561647" y="3034912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93%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Admin web cubre cliente API, paginas, formularios y listados.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noGrp="1"/>
          </p:cNvSpPr>
          <p:nvPr/>
        </p:nvSpPr>
        <p:spPr>
          <a:xfrm>
            <a:off x="6264413" y="763824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noGrp="1"/>
          </p:cNvSpPr>
          <p:nvPr/>
        </p:nvSpPr>
        <p:spPr>
          <a:xfrm>
            <a:off x="6561648" y="1058756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Dominio, aplicacion, YAML, shared y wrapper alcanzan cobertura completa.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noGrp="1"/>
          </p:cNvSpPr>
          <p:nvPr/>
        </p:nvSpPr>
        <p:spPr>
          <a:xfrm>
            <a:off x="6264412" y="4751660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noGrp="1"/>
          </p:cNvSpPr>
          <p:nvPr/>
        </p:nvSpPr>
        <p:spPr>
          <a:xfrm>
            <a:off x="6561647" y="5046592"/>
            <a:ext cx="4986886" cy="104843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66.17%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API incluye esquemas e integracion MySQL omitida en la ejecucion base.</a:t>
            </a:r>
          </a:p>
        </p:txBody>
      </p:sp>
      <p:graphicFrame>
        <p:nvGraphicFramePr>
          <p:cNvPr id="570" name="Chart 3"/>
          <p:cNvGraphicFramePr/>
          <p:nvPr/>
        </p:nvGraphicFramePr>
        <p:xfrm>
          <a:off x="408690" y="1054100"/>
          <a:ext cx="5124182" cy="5452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35" name="Rectángulo 534">
            <a:extLst>
              <a:ext uri="{FF2B5EF4-FFF2-40B4-BE49-F238E27FC236}">
                <a16:creationId xmlns:a16="http://schemas.microsoft.com/office/drawing/2014/main" id="{A80D7F79-9A7C-4FA7-9502-F55CC897A682}"/>
              </a:ext>
            </a:extLst>
          </p:cNvPr>
          <p:cNvSpPr>
            <a:spLocks noGrp="1"/>
          </p:cNvSpPr>
          <p:nvPr/>
        </p:nvSpPr>
        <p:spPr>
          <a:xfrm>
            <a:off x="400050" y="1094016"/>
            <a:ext cx="5219700" cy="51911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6" name="Rectángulo 535">
            <a:extLst>
              <a:ext uri="{FF2B5EF4-FFF2-40B4-BE49-F238E27FC236}">
                <a16:creationId xmlns:a16="http://schemas.microsoft.com/office/drawing/2014/main" id="{17B5834D-1D0D-4A11-93DB-00CA9F2412CC}"/>
              </a:ext>
            </a:extLst>
          </p:cNvPr>
          <p:cNvSpPr>
            <a:spLocks noGrp="1"/>
          </p:cNvSpPr>
          <p:nvPr/>
        </p:nvSpPr>
        <p:spPr>
          <a:xfrm>
            <a:off x="400050" y="1113066"/>
            <a:ext cx="5219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Cobertura por capa</a:t>
            </a:r>
          </a:p>
        </p:txBody>
      </p:sp>
      <p:sp>
        <p:nvSpPr>
          <p:cNvPr id="537" name="Rectángulo 536">
            <a:extLst>
              <a:ext uri="{FF2B5EF4-FFF2-40B4-BE49-F238E27FC236}">
                <a16:creationId xmlns:a16="http://schemas.microsoft.com/office/drawing/2014/main" id="{18D4ADCB-ED0C-47B7-A294-BC2B70E3534A}"/>
              </a:ext>
            </a:extLst>
          </p:cNvPr>
          <p:cNvSpPr>
            <a:spLocks noGrp="1"/>
          </p:cNvSpPr>
          <p:nvPr/>
        </p:nvSpPr>
        <p:spPr>
          <a:xfrm>
            <a:off x="476250" y="1741716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Dominio</a:t>
            </a:r>
          </a:p>
        </p:txBody>
      </p:sp>
      <p:sp>
        <p:nvSpPr>
          <p:cNvPr id="538" name="Rectángulo: esquinas redondeadas 537">
            <a:extLst>
              <a:ext uri="{FF2B5EF4-FFF2-40B4-BE49-F238E27FC236}">
                <a16:creationId xmlns:a16="http://schemas.microsoft.com/office/drawing/2014/main" id="{4B35FFEA-5750-4A15-B7D0-AE389FB820C9}"/>
              </a:ext>
            </a:extLst>
          </p:cNvPr>
          <p:cNvSpPr>
            <a:spLocks noGrp="1"/>
          </p:cNvSpPr>
          <p:nvPr/>
        </p:nvSpPr>
        <p:spPr>
          <a:xfrm>
            <a:off x="1695450" y="17798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9" name="Rectángulo: esquinas redondeadas 538">
            <a:extLst>
              <a:ext uri="{FF2B5EF4-FFF2-40B4-BE49-F238E27FC236}">
                <a16:creationId xmlns:a16="http://schemas.microsoft.com/office/drawing/2014/main" id="{97BC2465-997C-4831-8555-DF2FFBFEE5C3}"/>
              </a:ext>
            </a:extLst>
          </p:cNvPr>
          <p:cNvSpPr>
            <a:spLocks noGrp="1"/>
          </p:cNvSpPr>
          <p:nvPr/>
        </p:nvSpPr>
        <p:spPr>
          <a:xfrm>
            <a:off x="1695450" y="17798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0" name="Rectángulo 539">
            <a:extLst>
              <a:ext uri="{FF2B5EF4-FFF2-40B4-BE49-F238E27FC236}">
                <a16:creationId xmlns:a16="http://schemas.microsoft.com/office/drawing/2014/main" id="{1A4CB6ED-2826-4B2D-9002-65DF75873A68}"/>
              </a:ext>
            </a:extLst>
          </p:cNvPr>
          <p:cNvSpPr>
            <a:spLocks noGrp="1"/>
          </p:cNvSpPr>
          <p:nvPr/>
        </p:nvSpPr>
        <p:spPr>
          <a:xfrm>
            <a:off x="4686300" y="1741716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100%</a:t>
            </a:r>
          </a:p>
        </p:txBody>
      </p:sp>
      <p:sp>
        <p:nvSpPr>
          <p:cNvPr id="541" name="Rectángulo 540">
            <a:extLst>
              <a:ext uri="{FF2B5EF4-FFF2-40B4-BE49-F238E27FC236}">
                <a16:creationId xmlns:a16="http://schemas.microsoft.com/office/drawing/2014/main" id="{2B33F321-44F6-4B90-B798-3C774DF763BB}"/>
              </a:ext>
            </a:extLst>
          </p:cNvPr>
          <p:cNvSpPr>
            <a:spLocks noGrp="1"/>
          </p:cNvSpPr>
          <p:nvPr/>
        </p:nvSpPr>
        <p:spPr>
          <a:xfrm>
            <a:off x="476250" y="2389416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Aplicacion</a:t>
            </a:r>
          </a:p>
        </p:txBody>
      </p:sp>
      <p:sp>
        <p:nvSpPr>
          <p:cNvPr id="542" name="Rectángulo: esquinas redondeadas 541">
            <a:extLst>
              <a:ext uri="{FF2B5EF4-FFF2-40B4-BE49-F238E27FC236}">
                <a16:creationId xmlns:a16="http://schemas.microsoft.com/office/drawing/2014/main" id="{159EB0EF-CC57-431F-B9BA-D732C1F18E92}"/>
              </a:ext>
            </a:extLst>
          </p:cNvPr>
          <p:cNvSpPr>
            <a:spLocks noGrp="1"/>
          </p:cNvSpPr>
          <p:nvPr/>
        </p:nvSpPr>
        <p:spPr>
          <a:xfrm>
            <a:off x="1695450" y="24275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3" name="Rectángulo: esquinas redondeadas 542">
            <a:extLst>
              <a:ext uri="{FF2B5EF4-FFF2-40B4-BE49-F238E27FC236}">
                <a16:creationId xmlns:a16="http://schemas.microsoft.com/office/drawing/2014/main" id="{71BDD618-F453-4493-8793-F3F00EB03EE0}"/>
              </a:ext>
            </a:extLst>
          </p:cNvPr>
          <p:cNvSpPr>
            <a:spLocks noGrp="1"/>
          </p:cNvSpPr>
          <p:nvPr/>
        </p:nvSpPr>
        <p:spPr>
          <a:xfrm>
            <a:off x="1695450" y="24275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4" name="Rectángulo 543">
            <a:extLst>
              <a:ext uri="{FF2B5EF4-FFF2-40B4-BE49-F238E27FC236}">
                <a16:creationId xmlns:a16="http://schemas.microsoft.com/office/drawing/2014/main" id="{E8CB3E87-9C01-4360-84BE-9A800EC200CF}"/>
              </a:ext>
            </a:extLst>
          </p:cNvPr>
          <p:cNvSpPr>
            <a:spLocks noGrp="1"/>
          </p:cNvSpPr>
          <p:nvPr/>
        </p:nvSpPr>
        <p:spPr>
          <a:xfrm>
            <a:off x="4686300" y="2389416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100%</a:t>
            </a:r>
          </a:p>
        </p:txBody>
      </p:sp>
      <p:sp>
        <p:nvSpPr>
          <p:cNvPr id="545" name="Rectángulo 544">
            <a:extLst>
              <a:ext uri="{FF2B5EF4-FFF2-40B4-BE49-F238E27FC236}">
                <a16:creationId xmlns:a16="http://schemas.microsoft.com/office/drawing/2014/main" id="{AE2A4116-1D5D-4CBB-8801-5C588CAEB7BE}"/>
              </a:ext>
            </a:extLst>
          </p:cNvPr>
          <p:cNvSpPr>
            <a:spLocks noGrp="1"/>
          </p:cNvSpPr>
          <p:nvPr/>
        </p:nvSpPr>
        <p:spPr>
          <a:xfrm>
            <a:off x="476250" y="3037116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YAML</a:t>
            </a:r>
          </a:p>
        </p:txBody>
      </p:sp>
      <p:sp>
        <p:nvSpPr>
          <p:cNvPr id="546" name="Rectángulo: esquinas redondeadas 545">
            <a:extLst>
              <a:ext uri="{FF2B5EF4-FFF2-40B4-BE49-F238E27FC236}">
                <a16:creationId xmlns:a16="http://schemas.microsoft.com/office/drawing/2014/main" id="{27F31372-129A-4FB7-94A6-9A5E3A586311}"/>
              </a:ext>
            </a:extLst>
          </p:cNvPr>
          <p:cNvSpPr>
            <a:spLocks noGrp="1"/>
          </p:cNvSpPr>
          <p:nvPr/>
        </p:nvSpPr>
        <p:spPr>
          <a:xfrm>
            <a:off x="1695450" y="30752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7" name="Rectángulo: esquinas redondeadas 546">
            <a:extLst>
              <a:ext uri="{FF2B5EF4-FFF2-40B4-BE49-F238E27FC236}">
                <a16:creationId xmlns:a16="http://schemas.microsoft.com/office/drawing/2014/main" id="{CD98FA0A-4D6E-43D7-AD72-65A5ECC500BD}"/>
              </a:ext>
            </a:extLst>
          </p:cNvPr>
          <p:cNvSpPr>
            <a:spLocks noGrp="1"/>
          </p:cNvSpPr>
          <p:nvPr/>
        </p:nvSpPr>
        <p:spPr>
          <a:xfrm>
            <a:off x="1695450" y="30752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8" name="Rectángulo 547">
            <a:extLst>
              <a:ext uri="{FF2B5EF4-FFF2-40B4-BE49-F238E27FC236}">
                <a16:creationId xmlns:a16="http://schemas.microsoft.com/office/drawing/2014/main" id="{C9EE9448-4AE2-43C2-BF1E-F379042508ED}"/>
              </a:ext>
            </a:extLst>
          </p:cNvPr>
          <p:cNvSpPr>
            <a:spLocks noGrp="1"/>
          </p:cNvSpPr>
          <p:nvPr/>
        </p:nvSpPr>
        <p:spPr>
          <a:xfrm>
            <a:off x="4686300" y="3037116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100%</a:t>
            </a:r>
          </a:p>
        </p:txBody>
      </p:sp>
      <p:sp>
        <p:nvSpPr>
          <p:cNvPr id="549" name="Rectángulo 548">
            <a:extLst>
              <a:ext uri="{FF2B5EF4-FFF2-40B4-BE49-F238E27FC236}">
                <a16:creationId xmlns:a16="http://schemas.microsoft.com/office/drawing/2014/main" id="{95C86677-A43C-47F3-B903-8B4ACCEE2798}"/>
              </a:ext>
            </a:extLst>
          </p:cNvPr>
          <p:cNvSpPr>
            <a:spLocks noGrp="1"/>
          </p:cNvSpPr>
          <p:nvPr/>
        </p:nvSpPr>
        <p:spPr>
          <a:xfrm>
            <a:off x="476250" y="3684816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Admin web</a:t>
            </a:r>
          </a:p>
        </p:txBody>
      </p:sp>
      <p:sp>
        <p:nvSpPr>
          <p:cNvPr id="550" name="Rectángulo: esquinas redondeadas 549">
            <a:extLst>
              <a:ext uri="{FF2B5EF4-FFF2-40B4-BE49-F238E27FC236}">
                <a16:creationId xmlns:a16="http://schemas.microsoft.com/office/drawing/2014/main" id="{CA37423C-9041-425B-AA36-5C263399E217}"/>
              </a:ext>
            </a:extLst>
          </p:cNvPr>
          <p:cNvSpPr>
            <a:spLocks noGrp="1"/>
          </p:cNvSpPr>
          <p:nvPr/>
        </p:nvSpPr>
        <p:spPr>
          <a:xfrm>
            <a:off x="1695450" y="37229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1" name="Rectángulo: esquinas redondeadas 550">
            <a:extLst>
              <a:ext uri="{FF2B5EF4-FFF2-40B4-BE49-F238E27FC236}">
                <a16:creationId xmlns:a16="http://schemas.microsoft.com/office/drawing/2014/main" id="{FF7C5427-32A5-40C2-825F-EAF934A30B6C}"/>
              </a:ext>
            </a:extLst>
          </p:cNvPr>
          <p:cNvSpPr>
            <a:spLocks noGrp="1"/>
          </p:cNvSpPr>
          <p:nvPr/>
        </p:nvSpPr>
        <p:spPr>
          <a:xfrm>
            <a:off x="1695450" y="3722916"/>
            <a:ext cx="2657475" cy="22860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2" name="Rectángulo 551">
            <a:extLst>
              <a:ext uri="{FF2B5EF4-FFF2-40B4-BE49-F238E27FC236}">
                <a16:creationId xmlns:a16="http://schemas.microsoft.com/office/drawing/2014/main" id="{C8D8561D-A744-4926-8FA3-9CB259B56D20}"/>
              </a:ext>
            </a:extLst>
          </p:cNvPr>
          <p:cNvSpPr>
            <a:spLocks noGrp="1"/>
          </p:cNvSpPr>
          <p:nvPr/>
        </p:nvSpPr>
        <p:spPr>
          <a:xfrm>
            <a:off x="4686300" y="3684816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93%</a:t>
            </a:r>
          </a:p>
        </p:txBody>
      </p:sp>
      <p:sp>
        <p:nvSpPr>
          <p:cNvPr id="553" name="Rectángulo 552">
            <a:extLst>
              <a:ext uri="{FF2B5EF4-FFF2-40B4-BE49-F238E27FC236}">
                <a16:creationId xmlns:a16="http://schemas.microsoft.com/office/drawing/2014/main" id="{E365C62B-1A51-467D-8345-A4549ABCB398}"/>
              </a:ext>
            </a:extLst>
          </p:cNvPr>
          <p:cNvSpPr>
            <a:spLocks noGrp="1"/>
          </p:cNvSpPr>
          <p:nvPr/>
        </p:nvSpPr>
        <p:spPr>
          <a:xfrm>
            <a:off x="476250" y="4332516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API</a:t>
            </a:r>
          </a:p>
        </p:txBody>
      </p:sp>
      <p:sp>
        <p:nvSpPr>
          <p:cNvPr id="554" name="Rectángulo: esquinas redondeadas 553">
            <a:extLst>
              <a:ext uri="{FF2B5EF4-FFF2-40B4-BE49-F238E27FC236}">
                <a16:creationId xmlns:a16="http://schemas.microsoft.com/office/drawing/2014/main" id="{93B9F399-01CD-4F49-8C9C-6671E720EE6F}"/>
              </a:ext>
            </a:extLst>
          </p:cNvPr>
          <p:cNvSpPr>
            <a:spLocks noGrp="1"/>
          </p:cNvSpPr>
          <p:nvPr/>
        </p:nvSpPr>
        <p:spPr>
          <a:xfrm>
            <a:off x="1695450" y="43706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5" name="Rectángulo: esquinas redondeadas 554">
            <a:extLst>
              <a:ext uri="{FF2B5EF4-FFF2-40B4-BE49-F238E27FC236}">
                <a16:creationId xmlns:a16="http://schemas.microsoft.com/office/drawing/2014/main" id="{B48203F5-3439-453D-831C-1C9826E5A641}"/>
              </a:ext>
            </a:extLst>
          </p:cNvPr>
          <p:cNvSpPr>
            <a:spLocks noGrp="1"/>
          </p:cNvSpPr>
          <p:nvPr/>
        </p:nvSpPr>
        <p:spPr>
          <a:xfrm>
            <a:off x="1695450" y="4370616"/>
            <a:ext cx="1890808" cy="22860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6" name="Rectángulo 555">
            <a:extLst>
              <a:ext uri="{FF2B5EF4-FFF2-40B4-BE49-F238E27FC236}">
                <a16:creationId xmlns:a16="http://schemas.microsoft.com/office/drawing/2014/main" id="{B2A606F6-C038-4BB9-AF6D-1FEBE97FDEB1}"/>
              </a:ext>
            </a:extLst>
          </p:cNvPr>
          <p:cNvSpPr>
            <a:spLocks noGrp="1"/>
          </p:cNvSpPr>
          <p:nvPr/>
        </p:nvSpPr>
        <p:spPr>
          <a:xfrm>
            <a:off x="4686300" y="4332516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66.17%</a:t>
            </a:r>
          </a:p>
        </p:txBody>
      </p:sp>
      <p:sp>
        <p:nvSpPr>
          <p:cNvPr id="557" name="Rectángulo 556">
            <a:extLst>
              <a:ext uri="{FF2B5EF4-FFF2-40B4-BE49-F238E27FC236}">
                <a16:creationId xmlns:a16="http://schemas.microsoft.com/office/drawing/2014/main" id="{AA23A2F8-65C0-44F3-92BC-81428288E19A}"/>
              </a:ext>
            </a:extLst>
          </p:cNvPr>
          <p:cNvSpPr>
            <a:spLocks noGrp="1"/>
          </p:cNvSpPr>
          <p:nvPr/>
        </p:nvSpPr>
        <p:spPr>
          <a:xfrm>
            <a:off x="476250" y="4980216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374151"/>
                </a:solidFill>
              </a:defRPr>
            </a:pPr>
            <a:r>
              <a:rPr sz="1050" b="0">
                <a:solidFill>
                  <a:srgbClr val="374151"/>
                </a:solidFill>
              </a:rPr>
              <a:t>Demo web</a:t>
            </a:r>
          </a:p>
        </p:txBody>
      </p:sp>
      <p:sp>
        <p:nvSpPr>
          <p:cNvPr id="558" name="Rectángulo: esquinas redondeadas 557">
            <a:extLst>
              <a:ext uri="{FF2B5EF4-FFF2-40B4-BE49-F238E27FC236}">
                <a16:creationId xmlns:a16="http://schemas.microsoft.com/office/drawing/2014/main" id="{D2B6E997-E11D-4812-B5FB-DADB046E4057}"/>
              </a:ext>
            </a:extLst>
          </p:cNvPr>
          <p:cNvSpPr>
            <a:spLocks noGrp="1"/>
          </p:cNvSpPr>
          <p:nvPr/>
        </p:nvSpPr>
        <p:spPr>
          <a:xfrm>
            <a:off x="1695450" y="5018316"/>
            <a:ext cx="2857500" cy="228600"/>
          </a:xfrm>
          <a:prstGeom prst="roundRect">
            <a:avLst>
              <a:gd name="adj" fmla="val 33333"/>
            </a:avLst>
          </a:prstGeom>
          <a:solidFill>
            <a:srgbClr val="EEF2F7"/>
          </a:solidFill>
          <a:ln w="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9" name="Rectángulo: esquinas redondeadas 558">
            <a:extLst>
              <a:ext uri="{FF2B5EF4-FFF2-40B4-BE49-F238E27FC236}">
                <a16:creationId xmlns:a16="http://schemas.microsoft.com/office/drawing/2014/main" id="{B6AF7E99-29D1-4742-A7C8-EF73FAF029A3}"/>
              </a:ext>
            </a:extLst>
          </p:cNvPr>
          <p:cNvSpPr>
            <a:spLocks noGrp="1"/>
          </p:cNvSpPr>
          <p:nvPr/>
        </p:nvSpPr>
        <p:spPr>
          <a:xfrm>
            <a:off x="1695450" y="5018316"/>
            <a:ext cx="2050542" cy="22860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 w="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0" name="Rectángulo 559">
            <a:extLst>
              <a:ext uri="{FF2B5EF4-FFF2-40B4-BE49-F238E27FC236}">
                <a16:creationId xmlns:a16="http://schemas.microsoft.com/office/drawing/2014/main" id="{78BB044A-7659-4069-9BE7-227E9892AE82}"/>
              </a:ext>
            </a:extLst>
          </p:cNvPr>
          <p:cNvSpPr>
            <a:spLocks noGrp="1"/>
          </p:cNvSpPr>
          <p:nvPr/>
        </p:nvSpPr>
        <p:spPr>
          <a:xfrm>
            <a:off x="4686300" y="4980216"/>
            <a:ext cx="72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71.76%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DB7BEEEC-A170-5376-2B6E-CB54687B0CB1}" type="slidenum">
              <a:rPr/>
              <a:t>10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t>El despliegue evoluciona desde desarrollo local hasta Kubernetes reproducible</a:t>
            </a:r>
          </a:p>
        </p:txBody>
      </p:sp>
      <p:cxnSp>
        <p:nvCxnSpPr>
          <p:cNvPr id="27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Local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Contenedores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Cluster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noGrp="1"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Imagenes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API y frontend se construyen como servicios stateless configurables.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noGrp="1"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Docker Compose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 dirty="0" err="1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Levanta</a:t>
            </a:r>
            <a:r>
              <a:rPr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MySQL, </a:t>
            </a:r>
            <a:r>
              <a:rPr sz="1600" dirty="0" err="1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migraciones</a:t>
            </a:r>
            <a:r>
              <a:rPr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API y admin web con un </a:t>
            </a:r>
            <a:r>
              <a:rPr sz="1600" dirty="0" err="1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comando</a:t>
            </a:r>
            <a:r>
              <a:rPr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noGrp="1"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Kubernetes + Helm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Manifiestos y chart con Secrets, ConfigMaps, probes y PVC MySQL.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AF73-35BA-EF93-478A-A160DDAB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60F8E7-E3E5-FF60-108F-98B35A3665B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t>OKVNS TFM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4A359-5C19-C717-6BAA-ED85EFACC14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DB7BEEEC-A170-5376-2B6E-CB54687B0CB1}" type="slidenum">
              <a:rPr/>
              <a:t>11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3FDFD41-0A1D-9E6A-E205-ADD40C772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s-ES" sz="3200" dirty="0"/>
              <a:t>Siguientes pasos que seguir para evolucionar el MVP</a:t>
            </a:r>
            <a:endParaRPr dirty="0"/>
          </a:p>
        </p:txBody>
      </p:sp>
      <p:cxnSp>
        <p:nvCxnSpPr>
          <p:cNvPr id="27" name="Google Shape;2259;p159">
            <a:extLst>
              <a:ext uri="{FF2B5EF4-FFF2-40B4-BE49-F238E27FC236}">
                <a16:creationId xmlns:a16="http://schemas.microsoft.com/office/drawing/2014/main" id="{D3BB01BF-19A0-543A-D5E1-084C55F39EE9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95BCBBF8-AF21-94CC-E022-BE3C3B4EB0B8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DF93C128-1295-3C4F-3CC9-B9F3EB2C7B73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9FE1F46D-93F5-55E4-A24B-8F0EDE55AB83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44CED379-760E-D224-2479-2C020B52D5D4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400" dirty="0">
                <a:latin typeface="Helvetica Neue"/>
                <a:ea typeface="Helvetica Neue"/>
                <a:cs typeface="Helvetica Neue"/>
              </a:rPr>
              <a:t>Seguridad</a:t>
            </a:r>
            <a:endParaRPr sz="1400" dirty="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1F48680-9AEF-649E-2B50-64ABD2EF260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400" dirty="0" err="1">
                <a:latin typeface="Helvetica Neue"/>
                <a:ea typeface="Helvetica Neue"/>
                <a:cs typeface="Helvetica Neue"/>
              </a:rPr>
              <a:t>Authn</a:t>
            </a:r>
            <a:r>
              <a:rPr lang="es-ES" sz="1400" dirty="0">
                <a:latin typeface="Helvetica Neue"/>
                <a:ea typeface="Helvetica Neue"/>
                <a:cs typeface="Helvetica Neue"/>
              </a:rPr>
              <a:t>/</a:t>
            </a:r>
            <a:r>
              <a:rPr lang="es-ES" sz="1400" dirty="0" err="1">
                <a:latin typeface="Helvetica Neue"/>
                <a:ea typeface="Helvetica Neue"/>
                <a:cs typeface="Helvetica Neue"/>
              </a:rPr>
              <a:t>Authz</a:t>
            </a:r>
            <a:endParaRPr sz="1400" dirty="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AD38D24A-1604-C5DC-71CF-F1EB6B887E9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400" dirty="0">
                <a:latin typeface="Helvetica Neue"/>
                <a:ea typeface="Helvetica Neue"/>
                <a:cs typeface="Helvetica Neue"/>
              </a:rPr>
              <a:t>Soporte</a:t>
            </a:r>
            <a:endParaRPr sz="1400" dirty="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A5D3D47-EA0F-C5F2-DDE9-7FDB8B5863FE}"/>
              </a:ext>
            </a:extLst>
          </p:cNvPr>
          <p:cNvSpPr>
            <a:spLocks noGrp="1"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lang="es-ES"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Autenticación de API REST y web de administración</a:t>
            </a:r>
            <a:endParaRPr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lang="es-ES"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Autorización mediante RBAC</a:t>
            </a:r>
            <a:endParaRPr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F769407A-8757-4A24-C112-1225F365D9A4}"/>
              </a:ext>
            </a:extLst>
          </p:cNvPr>
          <p:cNvSpPr>
            <a:spLocks noGrp="1"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lang="es-ES"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Cifrado en tránsito con HTTPS.</a:t>
            </a:r>
            <a:endParaRPr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lang="es-ES"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Cifrado en reposo para nuevos tipos de valor “</a:t>
            </a:r>
            <a:r>
              <a:rPr lang="es-ES" sz="1600" dirty="0" err="1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secret</a:t>
            </a:r>
            <a:r>
              <a:rPr lang="es-ES"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”.</a:t>
            </a:r>
            <a:endParaRPr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4153663-69E5-8950-381D-CE06B46DA003}"/>
              </a:ext>
            </a:extLst>
          </p:cNvPr>
          <p:cNvSpPr>
            <a:spLocks noGrp="1"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Implementación de clientes </a:t>
            </a:r>
            <a:r>
              <a:rPr lang="es-ES" sz="1600" dirty="0" err="1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wrapper</a:t>
            </a:r>
            <a:r>
              <a:rPr lang="es-ES"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en otros lenguajes,</a:t>
            </a:r>
            <a:r>
              <a:rPr lang="es-ES" sz="1600" dirty="0">
                <a:solidFill>
                  <a:prstClr val="black"/>
                </a:solidFill>
              </a:rPr>
              <a:t> Java, </a:t>
            </a:r>
            <a:r>
              <a:rPr lang="es-ES" sz="1600" dirty="0" err="1">
                <a:solidFill>
                  <a:prstClr val="black"/>
                </a:solidFill>
              </a:rPr>
              <a:t>Golang</a:t>
            </a:r>
            <a:r>
              <a:rPr lang="es-ES" sz="1600" dirty="0">
                <a:solidFill>
                  <a:prstClr val="black"/>
                </a:solidFill>
              </a:rPr>
              <a:t>, Python.</a:t>
            </a:r>
            <a:endParaRPr lang="es-ES"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lang="es-ES" sz="1600" dirty="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Ampliación de la conectividad con otras instancias de BBDD relaciones.</a:t>
            </a:r>
            <a:endParaRPr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0633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>
            <a:noAutofit/>
          </a:bodyPr>
          <a:lstStyle/>
          <a:p>
            <a:r>
              <a:rPr dirty="0"/>
              <a:t>OKVNS </a:t>
            </a:r>
            <a:r>
              <a:rPr dirty="0" err="1"/>
              <a:t>demuestra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 completa, no solo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tecnica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973320"/>
            <a:ext cx="3568700" cy="1080246"/>
          </a:xfrm>
        </p:spPr>
        <p:txBody>
          <a:bodyPr>
            <a:noAutofit/>
          </a:bodyPr>
          <a:lstStyle/>
          <a:p>
            <a:r>
              <a:rPr sz="2000"/>
              <a:t>Arquitectura limpia</a:t>
            </a:r>
          </a:p>
          <a:p>
            <a:r>
              <a:rPr sz="2000"/>
              <a:t>Contratos documentados</a:t>
            </a:r>
          </a:p>
          <a:p>
            <a:r>
              <a:rPr sz="2000"/>
              <a:t>Persistencia y despliegue reproducibles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1612900" cy="64915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/>
              <a:t>Sintesis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2217</Words>
  <Application>Microsoft Office PowerPoint</Application>
  <DocSecurity>0</DocSecurity>
  <PresentationFormat>Panorámica</PresentationFormat>
  <Paragraphs>289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Helvetica Neue</vt:lpstr>
      <vt:lpstr>Arial</vt:lpstr>
      <vt:lpstr>Helvetica Neue Medium</vt:lpstr>
      <vt:lpstr>Default Codex Theme</vt:lpstr>
      <vt:lpstr>OKVNS</vt:lpstr>
      <vt:lpstr>La presentacion sigue el recorrido de una plataforma completa</vt:lpstr>
      <vt:lpstr>OKVNS separa la experiencia de administracion del nucleo de reglas y la persistencia</vt:lpstr>
      <vt:lpstr>El stack combina productividad TypeScript con limites claros entre capas</vt:lpstr>
      <vt:lpstr>Las funcionalidades cubren administracion, contrato de datos y operacion</vt:lpstr>
      <vt:lpstr>El contrato YAML protege los cambios masivos antes de tocar la base de datos</vt:lpstr>
      <vt:lpstr>OpenSpec deja una trazabilidad clara entre requisitos y entregables</vt:lpstr>
      <vt:lpstr>Los ADRs explican por que la solucion termino con esta arquitectura</vt:lpstr>
      <vt:lpstr>La cobertura es maxima en las capas de reglas y menor donde entra infraestructura</vt:lpstr>
      <vt:lpstr>El despliegue evoluciona desde desarrollo local hasta Kubernetes reproducible</vt:lpstr>
      <vt:lpstr>Siguientes pasos que seguir para evolucionar el MVP</vt:lpstr>
      <vt:lpstr>OKVNS demuestra una plataforma completa, no solo una prueba tecnica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Esperanza Perez Sanchez</cp:lastModifiedBy>
  <cp:revision>2</cp:revision>
  <dcterms:created xsi:type="dcterms:W3CDTF">2026-07-16T22:51:51Z</dcterms:created>
  <dcterms:modified xsi:type="dcterms:W3CDTF">2026-07-18T17:01:09Z</dcterms:modified>
</cp:coreProperties>
</file>